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Similarity linking (SIMILAR_TO) for re-ranking and clustering; entity resolution to merge duplicates. Resolution pipeline: fuzzy candidate narrowing (RapidFuzz WRatio) → graph-context enrichment → LLM judgment; confirmed members get a SAME_AS edge to a shared canonical EntityGroup hub node (deliberately a hub, not pairwise entity-to-entity edges — a 3+ duplicate cluster becomes one hub, not an N-way clique, and the hub carries canonical_name/type). Singletons stay ungrouped. Louvain tie-in worth making live given the course title: community detection over a similarity graph + per-community summarization IS the core of Microsoft's GraphRAG — here it's used as a targeted, exploratory tool (topic/boilerplate discovery), not adopted as the whole retrieval architecture. That's the 'Beyond GraphRAG' point. Louvain only beats plain connected components on a dense graph (at a lower threshold); at the 0.92 dedup threshold the graph is too sparse for it to add anything.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G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05 · RECAP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8016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improved the graph itself.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94560"/>
            <a:ext cx="1054577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spcAft>
                <a:spcPts val="1000"/>
              </a:spcAft>
              <a:buNone/>
            </a:pPr>
            <a:r>
              <a:rPr lang="en-US" sz="16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SIMILAR_TO edges between chunks (vector-index search) drive redundancy-aware re-ranking and exploratory topic clustering (Louvain via GDS).</a:t>
            </a:r>
            <a:endParaRPr lang="en-US" sz="16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Duplicate entities are resolved — fuzzy name matching, then an LLM judging against graph context — and merged onto a canonical EntityGroup node via SAME_AS.</a:t>
            </a:r>
            <a:endParaRPr lang="en-US" sz="16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8862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50" i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what turns a pile of extracted mentions into a graph you can actually query.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8229600" y="3886200"/>
            <a:ext cx="457200" cy="292608"/>
          </a:xfrm>
          <a:prstGeom prst="rect">
            <a:avLst/>
          </a:prstGeom>
          <a:solidFill>
            <a:srgbClr val="F4F4F2"/>
          </a:solidFill>
          <a:ln w="13970">
            <a:solidFill>
              <a:srgbClr val="1A1A1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509760" y="3886200"/>
            <a:ext cx="457200" cy="292608"/>
          </a:xfrm>
          <a:prstGeom prst="rect">
            <a:avLst/>
          </a:prstGeom>
          <a:solidFill>
            <a:srgbClr val="F4F4F2"/>
          </a:solidFill>
          <a:ln w="13970">
            <a:solidFill>
              <a:srgbClr val="1A1A1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0" y="4032504"/>
            <a:ext cx="822960" cy="0"/>
          </a:xfrm>
          <a:prstGeom prst="line">
            <a:avLst/>
          </a:prstGeom>
          <a:noFill/>
          <a:ln w="12700">
            <a:solidFill>
              <a:srgbClr val="82827B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7955280" y="35753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SIMILAR_TO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366760" y="4544568"/>
            <a:ext cx="274320" cy="274320"/>
          </a:xfrm>
          <a:prstGeom prst="ellipse">
            <a:avLst/>
          </a:prstGeom>
          <a:solidFill>
            <a:srgbClr val="F4F4F2"/>
          </a:solidFill>
          <a:ln w="13970">
            <a:solidFill>
              <a:srgbClr val="1A1A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29800" y="4544568"/>
            <a:ext cx="274320" cy="274320"/>
          </a:xfrm>
          <a:prstGeom prst="ellipse">
            <a:avLst/>
          </a:prstGeom>
          <a:solidFill>
            <a:srgbClr val="F4F4F2"/>
          </a:solidFill>
          <a:ln w="13970">
            <a:solidFill>
              <a:srgbClr val="1A1A1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61120" y="5202936"/>
            <a:ext cx="310896" cy="310896"/>
          </a:xfrm>
          <a:prstGeom prst="ellipse">
            <a:avLst/>
          </a:prstGeom>
          <a:solidFill>
            <a:srgbClr val="2E6E6A"/>
          </a:solidFill>
          <a:ln/>
        </p:spPr>
      </p:sp>
      <p:sp>
        <p:nvSpPr>
          <p:cNvPr id="13" name="Shape 11"/>
          <p:cNvSpPr/>
          <p:nvPr/>
        </p:nvSpPr>
        <p:spPr>
          <a:xfrm>
            <a:off x="8503920" y="4818888"/>
            <a:ext cx="612648" cy="384048"/>
          </a:xfrm>
          <a:prstGeom prst="line">
            <a:avLst/>
          </a:prstGeom>
          <a:noFill/>
          <a:ln w="16510">
            <a:solidFill>
              <a:srgbClr val="2E6E6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966960" y="4818888"/>
            <a:ext cx="-850392" cy="384048"/>
          </a:xfrm>
          <a:prstGeom prst="line">
            <a:avLst/>
          </a:prstGeom>
          <a:noFill/>
          <a:ln w="16510">
            <a:solidFill>
              <a:srgbClr val="2E6E6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195560" y="486460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SAME_AS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8293608" y="54772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EntityGroup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94360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GDS — Neo4j Graph Data Science library. Louvain — a community-detection algorithm.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05 · Recap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5448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05 complete.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68680" y="3977640"/>
            <a:ext cx="10451592" cy="0"/>
          </a:xfrm>
          <a:prstGeom prst="line">
            <a:avLst/>
          </a:prstGeom>
          <a:noFill/>
          <a:ln w="12700">
            <a:solidFill>
              <a:srgbClr val="D3D3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3977640"/>
            <a:ext cx="6967728" cy="0"/>
          </a:xfrm>
          <a:prstGeom prst="line">
            <a:avLst/>
          </a:prstGeom>
          <a:noFill/>
          <a:ln w="19050">
            <a:solidFill>
              <a:srgbClr val="1A1A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" y="3904488"/>
            <a:ext cx="146304" cy="146304"/>
          </a:xfrm>
          <a:prstGeom prst="ellipse">
            <a:avLst/>
          </a:prstGeom>
          <a:solidFill>
            <a:srgbClr val="1A1A1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37460" y="3904488"/>
            <a:ext cx="146304" cy="146304"/>
          </a:xfrm>
          <a:prstGeom prst="ellipse">
            <a:avLst/>
          </a:prstGeom>
          <a:solidFill>
            <a:srgbClr val="1A1A1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833372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787652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79392" y="3904488"/>
            <a:ext cx="146304" cy="146304"/>
          </a:xfrm>
          <a:prstGeom prst="ellipse">
            <a:avLst/>
          </a:prstGeom>
          <a:solidFill>
            <a:srgbClr val="1A1A1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75304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529584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21324" y="3904488"/>
            <a:ext cx="146304" cy="146304"/>
          </a:xfrm>
          <a:prstGeom prst="ellipse">
            <a:avLst/>
          </a:prstGeom>
          <a:solidFill>
            <a:srgbClr val="1A1A1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317236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271516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717536" y="3858768"/>
            <a:ext cx="237744" cy="237744"/>
          </a:xfrm>
          <a:prstGeom prst="ellipse">
            <a:avLst/>
          </a:prstGeom>
          <a:solidFill>
            <a:srgbClr val="2E6E6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059168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013448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 &amp;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496044" y="3895344"/>
            <a:ext cx="164592" cy="164592"/>
          </a:xfrm>
          <a:prstGeom prst="ellipse">
            <a:avLst/>
          </a:prstGeom>
          <a:solidFill>
            <a:srgbClr val="F4F4F2"/>
          </a:solidFill>
          <a:ln w="15875">
            <a:solidFill>
              <a:srgbClr val="82827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801100" y="31546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NEXT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8801100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755380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Text2Cypher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1247120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543032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0497312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&amp;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525780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next — a text-to-Cypher escape hatch for open-ended questions.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05 · Recap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GraphAware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Alessandro Negro</dc:creator>
  <cp:lastModifiedBy>Alessandro Negro</cp:lastModifiedBy>
  <cp:revision>1</cp:revision>
  <dcterms:created xsi:type="dcterms:W3CDTF">2026-09-14T17:06:02Z</dcterms:created>
  <dcterms:modified xsi:type="dcterms:W3CDTF">2026-09-14T17:06:02Z</dcterms:modified>
</cp:coreProperties>
</file>