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7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7" r:id="rId12"/>
    <p:sldId id="266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8592"/>
    <p:restoredTop sz="79315"/>
  </p:normalViewPr>
  <p:slideViewPr>
    <p:cSldViewPr snapToGrid="0" snapToObjects="1">
      <p:cViewPr varScale="1">
        <p:scale>
          <a:sx n="99" d="100"/>
          <a:sy n="99" d="100"/>
        </p:scale>
        <p:origin x="976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viewProps" Target="viewProps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notesMaster" Target="notesMasters/notesMaster1.xml"/><Relationship Id="rId40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12697475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Title. Beyond GraphRAG — an explainable financial advisor built on a knowledge graph, Neo4j and LLM agents. Alessandro Negro, Chief Scientist at GraphAware.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Complex decisions depend on knowledge spread across sources. Plain RAG's flat chunk retrieval is a weak fit — the scattered squares are disconnected chunks with nothing linking them.</a:t>
            </a:r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Think about multiple scenarios in your own professional and personal life. </a:t>
            </a:r>
          </a:p>
          <a:p>
            <a:pPr marL="171450" indent="-171450">
              <a:buFontTx/>
              <a:buChar char="-"/>
            </a:pPr>
            <a:r>
              <a:rPr lang="en-US" dirty="0"/>
              <a:t>The same can apply if you are building an intelligent system for supporting the doctor to heal a patient</a:t>
            </a:r>
          </a:p>
          <a:p>
            <a:pPr marL="171450" indent="-171450">
              <a:buFontTx/>
              <a:buChar char="-"/>
            </a:pPr>
            <a:r>
              <a:rPr lang="en-US" dirty="0"/>
              <a:t>If you are building a system that support mission critical intelligence practice </a:t>
            </a:r>
          </a:p>
          <a:p>
            <a:pPr marL="171450" indent="-171450">
              <a:buFontTx/>
              <a:buChar char="-"/>
            </a:pPr>
            <a:r>
              <a:rPr lang="en-US" dirty="0"/>
              <a:t>And the list if very long</a:t>
            </a:r>
          </a:p>
          <a:p>
            <a:pPr marL="171450" indent="-171450">
              <a:buFontTx/>
              <a:buChar char="-"/>
            </a:pPr>
            <a:endParaRPr lang="en-US" dirty="0"/>
          </a:p>
          <a:p>
            <a:r>
              <a:rPr lang="en-US" dirty="0"/>
              <a:t>In general, building an intelligent system requires to create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Make it concrete: financial markets and value investing. What you need to know about a company is spread across filings, news, executive/board data, and structured financials.</a:t>
            </a:r>
          </a:p>
          <a:p>
            <a:endParaRPr lang="en-US" dirty="0"/>
          </a:p>
          <a:p>
            <a:r>
              <a:rPr lang="en-US" dirty="0"/>
              <a:t>To make it concrete we would like to consider a scenario that can be very common to many people. Imagine you’d like to create a companion that helps you in finding a good company to invest in. </a:t>
            </a:r>
          </a:p>
          <a:p>
            <a:r>
              <a:rPr lang="en-US" dirty="0"/>
              <a:t>Here we are not talking about short term </a:t>
            </a:r>
            <a:r>
              <a:rPr lang="en-US" dirty="0" err="1"/>
              <a:t>investiment</a:t>
            </a:r>
            <a:r>
              <a:rPr lang="en-US" dirty="0"/>
              <a:t> or fast trading, we are talking about put a bit of your money on a company and wait for the company to grow. </a:t>
            </a:r>
          </a:p>
          <a:p>
            <a:r>
              <a:rPr lang="en-US" dirty="0"/>
              <a:t>In this case you need to know a lot about the company about the business</a:t>
            </a:r>
          </a:p>
          <a:p>
            <a:r>
              <a:rPr lang="en-US" dirty="0"/>
              <a:t>Warren buffet, one of the fathers of value investing, always says that he invests in companies and business he can understand. </a:t>
            </a:r>
          </a:p>
          <a:p>
            <a:endParaRPr lang="en-US" dirty="0"/>
          </a:p>
          <a:p>
            <a:r>
              <a:rPr lang="en-US" dirty="0"/>
              <a:t>So we need to build a system that allows us to </a:t>
            </a:r>
            <a:r>
              <a:rPr lang="en-US" dirty="0" err="1"/>
              <a:t>underatand</a:t>
            </a:r>
            <a:r>
              <a:rPr lang="en-US" dirty="0"/>
              <a:t> a company to know as much as we can about it.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These are a few of the questions we can ask to get a better understanding</a:t>
            </a:r>
          </a:p>
          <a:p>
            <a:r>
              <a:rPr lang="en-US" dirty="0"/>
              <a:t>Look at them, now from high level, some requires just a few lines in a 10K filing, other requires to span multiple documents and gather way more information. </a:t>
            </a:r>
          </a:p>
          <a:p>
            <a:endParaRPr lang="en-US" dirty="0"/>
          </a:p>
          <a:p>
            <a:r>
              <a:rPr lang="en-US" dirty="0"/>
              <a:t>But this is very common to many of the examples we mentioned </a:t>
            </a:r>
          </a:p>
          <a:p>
            <a:endParaRPr lang="en-US" dirty="0"/>
          </a:p>
          <a:p>
            <a:r>
              <a:rPr lang="en-US" dirty="0"/>
              <a:t>These span simple lookups, multi-hop reasoning, comparison, and change-over-time — the full range a real advisor must cover, and where flat RAG falls down.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framing statement for the whole workshop: gather and organize this information into a knowledge graph, and make it accessible. That's the spine of everything that follows.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RAG as a concept is still the right tool. But it has many implementations, and the choice of implementation is most of what determines whether it works for this kind of question.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We start simple: one-shot RAG (Module 1). Embed the question, retrieve chunks, build context, generate an answer. Get the mechanics — then watch it fail on multi-hop, cross-document questions.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Module 2: an agentic loop. The agent decides which tool to use, uses it, evaluates the result, and retries when retrieval or the answer isn't good enough.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Emphasize how easy the loop is to extend. Every module from 3 onward adds a new tool to the same agent without restructuring 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thesis that ties the course together. An agent that can flexibly choose tools is wasted on a knowledge base that can't grow. That's why a knowledge graph is the foundation, not a flat vector index.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roadmap. This same schematic recurs at every module transition — only the highlight moves. Right now the whole path is ahead of us.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Stated explicitly because it's how the course is structured: build the knowledge graph step by step and put each extension to use immediately. Never build ahead of what we can demonstrate.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stack, no logos. Azure OpenAI is chat/generation only; embeddings run locally with bge-m3, so no embedding API call. LangGraph is what makes 'evaluates its own results' concrete — explicit grading and retry edges, not a bare ReAct loop. Version note if asked: development ran against Neo4j 2026.x (Enterprise) — Module 2's multi-property vector index + SEARCH clause need Cypher 25 (Neo4j 2026.01+), and the GDS/Louvain work needs the Graph Data Science library installed.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Transition into the first notebook, module_01_baseline.ipynb.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What we built: a graph-modeled baseline. What broke: anything past flat similarity. Bridge to Module 2.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Built the agent loop with three tools and two grading steps. The design point: self-evaluation via explicit retry edges. Bridge: the loop needs a richer graph to reach into.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Grew the graph with Wikidata, Sharadar and NYT news; added Person, Event, Article, FinancialPeriod. Evolved a live graph safely and tested each step.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interesting decision worth surfacing: source disagreement on sector/industry is treated as data, not silently resolved.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teaching arc: naive → rigorous single-shot → two-phase (entities, reflection, relationships). The ADR-style decision: one generic label to avoid collisions before resolution exists.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payoff: a side-by-side on a counting question. Unstructured agent struggles; structured agent gets it right in fewer rounds, verified against Cypher ground truth.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Similarity linking (SIMILAR_TO) for re-ranking and clustering; entity resolution to merge duplicates. Resolution pipeline: fuzzy candidate narrowing (RapidFuzz WRatio) → graph-context enrichment → LLM judgment; confirmed members get a SAME_AS edge to a shared canonical EntityGroup hub node (deliberately a hub, not pairwise entity-to-entity edges — a 3+ duplicate cluster becomes one hub, not an N-way clique, and the hub carries canonical_name/type). Singletons stay ungrouped. Louvain tie-in worth making live given the course title: community detection over a similarity graph + per-community summarization IS the core of Microsoft's GraphRAG — here it's used as a targeted, exploratory tool (topic/boilerplate discovery), not adopted as the whole retrieval architecture. That's the 'Beyond GraphRAG' point. Louvain only beats plain connected components on a dense graph (at a lower threshold); at the 0.92 dedup threshold the graph is too sparse for it to add anything.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Text-to-Cypher as a deliberate tool of last resort: schema-aware prompting, validation, write guardrails, graceful fallbacks.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Honesty slide. The concrete case: the generated query kept selecting Company.name, which is null on the two curated Company nodes (set only on Wikidata-derived stubs), so answers silently dropped names. Mitigation: surface each property's nullability in the schema prompt (a '?' marker from the mandatory flag db.schema.* already returns) — measured 6/8 correct after, vs the earlier severe failures, i.e. better odds, NOT a guaranteed fix (temperature can't be lowered on this Azure deployment). Distinct from that, two infra bugs WERE genuinely fixed while building this — an APOC-free schema serializer (the instance has no usable APOC) and a get_graph() call silently hitting the wrong database on a shared 16-db server. Reliability finding: single-hop generated queries reliable, multi-hop joins not yet. Reinforce 'explainable'.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Evaluation consolidated: LLM-as-judge on correctness/completeness/grounding (three separate dimensions, not one blended score), sub-claim decomposition, anchored rubric, and rationale-before-score. Design choice worth surfacing: reference-based single-answer scoring, deliberately NOT a pairwise 'which is better' judge — that's what makes position/order bias structurally not apply, and it yields an absolute score you can aggregate/gate on. Grounding is scored against the system's actual retrieved context when it's passed in, else the gold answer as a weaker fallback. Overall correctness on decomposed questions is computed in code from the sub-claim verdicts, never asked of the model.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'now what' slide: monitoring, refreshing the graph, cost, and governance for a financial decision-support system.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core claim of the course, stated plainly. Two properties that only pay off together: the agent is flexible (iterative, tool-using, self-grading) but that flexibility is wasted on a store that can't grow; the graph is endlessly extensible but inert without something smart enough to exploit each new layer. Pairing them is the whole design — and because retrieval runs through typed tools and explicit graph structure, every answer traces back to its sources: the 'explainable' in the title.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Callback to the intro's four question types (Multi-hop · Cross-document · Comparison · Change over time). The point: none of these is solved by better prompting over flat chunks — each needed a graph capability plus an agent tool, added together. This is where the flexibility-meets-expansibility thesis becomes concrete rather than a slogan.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Close the loop: the whole path is complete. Thank the audience.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G">
    <p:bg>
      <p:bgPr>
        <a:solidFill>
          <a:srgbClr val="F4F4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603504"/>
            <a:ext cx="105457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300" dirty="0">
                <a:solidFill>
                  <a:srgbClr val="8282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PACKT COURSE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2148840"/>
            <a:ext cx="10545775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540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Beyond GraphRAG</a:t>
            </a:r>
            <a:endParaRPr lang="en-US" sz="5400" dirty="0"/>
          </a:p>
        </p:txBody>
      </p:sp>
      <p:sp>
        <p:nvSpPr>
          <p:cNvPr id="4" name="Text 2"/>
          <p:cNvSpPr txBox="1"/>
          <p:nvPr/>
        </p:nvSpPr>
        <p:spPr>
          <a:xfrm>
            <a:off x="822960" y="3246120"/>
            <a:ext cx="9601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2000" i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Building an explainable financial advisor with knowledge graphs, Neo4j, and LLM agents</a:t>
            </a:r>
            <a:endParaRPr lang="en-US" sz="20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5074920"/>
            <a:ext cx="7315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500" b="1" dirty="0">
                <a:solidFill>
                  <a:srgbClr val="1A1A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Alessandro Negro</a:t>
            </a:r>
            <a:endParaRPr lang="en-US" sz="1500" dirty="0"/>
          </a:p>
          <a:p>
            <a:pPr marL="0" indent="0" algn="l">
              <a:lnSpc>
                <a:spcPct val="125000"/>
              </a:lnSpc>
              <a:buNone/>
            </a:pPr>
            <a:r>
              <a:rPr lang="en-US" sz="1300" dirty="0">
                <a:solidFill>
                  <a:srgbClr val="8282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Chief Scientist, GraphAware</a:t>
            </a:r>
            <a:endParaRPr lang="en-US" sz="15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603504"/>
            <a:ext cx="105457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300" dirty="0">
                <a:solidFill>
                  <a:srgbClr val="8282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PROBLEM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1417320"/>
            <a:ext cx="64922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60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Good decisions need everything in one place.</a:t>
            </a:r>
            <a:endParaRPr lang="en-US" sz="3600" dirty="0"/>
          </a:p>
        </p:txBody>
      </p:sp>
      <p:sp>
        <p:nvSpPr>
          <p:cNvPr id="4" name="Text 2"/>
          <p:cNvSpPr txBox="1"/>
          <p:nvPr/>
        </p:nvSpPr>
        <p:spPr>
          <a:xfrm>
            <a:off x="818388" y="3346704"/>
            <a:ext cx="6035040" cy="12070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1650" dirty="0">
                <a:solidFill>
                  <a:srgbClr val="1A1A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Often, the knowledge to make proper decisions is scattered across many sources in many formats. Such knowledge has to be found, aggregated, and summarized before a person can use it.</a:t>
            </a:r>
            <a:endParaRPr lang="en-US" sz="1650" dirty="0"/>
          </a:p>
        </p:txBody>
      </p:sp>
      <p:sp>
        <p:nvSpPr>
          <p:cNvPr id="6" name="Shape 4"/>
          <p:cNvSpPr/>
          <p:nvPr/>
        </p:nvSpPr>
        <p:spPr>
          <a:xfrm>
            <a:off x="8129016" y="2212848"/>
            <a:ext cx="237744" cy="237744"/>
          </a:xfrm>
          <a:prstGeom prst="rect">
            <a:avLst/>
          </a:prstGeom>
          <a:solidFill>
            <a:srgbClr val="F4F4F2"/>
          </a:solidFill>
          <a:ln w="15875">
            <a:solidFill>
              <a:srgbClr val="D3D3CE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7" name="Shape 5"/>
          <p:cNvSpPr/>
          <p:nvPr/>
        </p:nvSpPr>
        <p:spPr>
          <a:xfrm>
            <a:off x="9733788" y="1956816"/>
            <a:ext cx="283464" cy="283464"/>
          </a:xfrm>
          <a:prstGeom prst="rect">
            <a:avLst/>
          </a:prstGeom>
          <a:solidFill>
            <a:srgbClr val="F4F4F2"/>
          </a:solidFill>
          <a:ln w="15875">
            <a:solidFill>
              <a:srgbClr val="D3D3CE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8" name="Shape 6"/>
          <p:cNvSpPr/>
          <p:nvPr/>
        </p:nvSpPr>
        <p:spPr>
          <a:xfrm>
            <a:off x="10981944" y="2596896"/>
            <a:ext cx="329184" cy="329184"/>
          </a:xfrm>
          <a:prstGeom prst="rect">
            <a:avLst/>
          </a:prstGeom>
          <a:solidFill>
            <a:srgbClr val="F4F4F2"/>
          </a:solidFill>
          <a:ln w="15875">
            <a:solidFill>
              <a:srgbClr val="D3D3CE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9" name="Shape 7"/>
          <p:cNvSpPr/>
          <p:nvPr/>
        </p:nvSpPr>
        <p:spPr>
          <a:xfrm>
            <a:off x="8663940" y="3108960"/>
            <a:ext cx="237744" cy="237744"/>
          </a:xfrm>
          <a:prstGeom prst="rect">
            <a:avLst/>
          </a:prstGeom>
          <a:solidFill>
            <a:srgbClr val="F4F4F2"/>
          </a:solidFill>
          <a:ln w="15875">
            <a:solidFill>
              <a:srgbClr val="D3D3CE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10" name="Shape 8"/>
          <p:cNvSpPr/>
          <p:nvPr/>
        </p:nvSpPr>
        <p:spPr>
          <a:xfrm>
            <a:off x="10268712" y="3236976"/>
            <a:ext cx="283464" cy="283464"/>
          </a:xfrm>
          <a:prstGeom prst="rect">
            <a:avLst/>
          </a:prstGeom>
          <a:solidFill>
            <a:srgbClr val="F4F4F2"/>
          </a:solidFill>
          <a:ln w="15875">
            <a:solidFill>
              <a:srgbClr val="D3D3CE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11" name="Shape 9"/>
          <p:cNvSpPr/>
          <p:nvPr/>
        </p:nvSpPr>
        <p:spPr>
          <a:xfrm>
            <a:off x="7950708" y="3749040"/>
            <a:ext cx="329184" cy="329184"/>
          </a:xfrm>
          <a:prstGeom prst="rect">
            <a:avLst/>
          </a:prstGeom>
          <a:solidFill>
            <a:srgbClr val="F4F4F2"/>
          </a:solidFill>
          <a:ln w="15875">
            <a:solidFill>
              <a:srgbClr val="D3D3CE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12" name="Shape 10"/>
          <p:cNvSpPr/>
          <p:nvPr/>
        </p:nvSpPr>
        <p:spPr>
          <a:xfrm>
            <a:off x="9377172" y="4005072"/>
            <a:ext cx="237744" cy="237744"/>
          </a:xfrm>
          <a:prstGeom prst="rect">
            <a:avLst/>
          </a:prstGeom>
          <a:solidFill>
            <a:srgbClr val="F4F4F2"/>
          </a:solidFill>
          <a:ln w="15875">
            <a:solidFill>
              <a:srgbClr val="D3D3CE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13" name="Shape 11"/>
          <p:cNvSpPr/>
          <p:nvPr/>
        </p:nvSpPr>
        <p:spPr>
          <a:xfrm>
            <a:off x="10803636" y="3749040"/>
            <a:ext cx="283464" cy="283464"/>
          </a:xfrm>
          <a:prstGeom prst="rect">
            <a:avLst/>
          </a:prstGeom>
          <a:solidFill>
            <a:srgbClr val="F4F4F2"/>
          </a:solidFill>
          <a:ln w="15875">
            <a:solidFill>
              <a:srgbClr val="D3D3CE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14" name="Shape 12"/>
          <p:cNvSpPr/>
          <p:nvPr/>
        </p:nvSpPr>
        <p:spPr>
          <a:xfrm>
            <a:off x="9020556" y="2596896"/>
            <a:ext cx="329184" cy="329184"/>
          </a:xfrm>
          <a:prstGeom prst="rect">
            <a:avLst/>
          </a:prstGeom>
          <a:solidFill>
            <a:srgbClr val="F4F4F2"/>
          </a:solidFill>
          <a:ln w="15875">
            <a:solidFill>
              <a:srgbClr val="D3D3CE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15" name="Shape 13"/>
          <p:cNvSpPr/>
          <p:nvPr/>
        </p:nvSpPr>
        <p:spPr>
          <a:xfrm>
            <a:off x="9983419" y="4133088"/>
            <a:ext cx="237744" cy="237744"/>
          </a:xfrm>
          <a:prstGeom prst="rect">
            <a:avLst/>
          </a:prstGeom>
          <a:solidFill>
            <a:srgbClr val="F4F4F2"/>
          </a:solidFill>
          <a:ln w="15875">
            <a:solidFill>
              <a:srgbClr val="D3D3CE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16" name="Shape 14"/>
          <p:cNvSpPr/>
          <p:nvPr/>
        </p:nvSpPr>
        <p:spPr>
          <a:xfrm>
            <a:off x="8307324" y="4337914"/>
            <a:ext cx="283464" cy="283464"/>
          </a:xfrm>
          <a:prstGeom prst="rect">
            <a:avLst/>
          </a:prstGeom>
          <a:solidFill>
            <a:srgbClr val="F4F4F2"/>
          </a:solidFill>
          <a:ln w="15875">
            <a:solidFill>
              <a:srgbClr val="D3D3CE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18" name="Text 16"/>
          <p:cNvSpPr txBox="1"/>
          <p:nvPr/>
        </p:nvSpPr>
        <p:spPr>
          <a:xfrm>
            <a:off x="822960" y="64008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8282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Beyond GraphRAG</a:t>
            </a:r>
            <a:endParaRPr lang="en-US" sz="900" dirty="0"/>
          </a:p>
        </p:txBody>
      </p:sp>
      <p:sp>
        <p:nvSpPr>
          <p:cNvPr id="19" name="Text 17"/>
          <p:cNvSpPr txBox="1"/>
          <p:nvPr/>
        </p:nvSpPr>
        <p:spPr>
          <a:xfrm>
            <a:off x="5882335" y="64008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282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Intro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603504"/>
            <a:ext cx="105457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300" dirty="0">
                <a:solidFill>
                  <a:srgbClr val="8282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USE CASE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1417320"/>
            <a:ext cx="60350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40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Value investing is a knowledge problem.</a:t>
            </a:r>
            <a:endParaRPr lang="en-US" sz="3400" dirty="0"/>
          </a:p>
        </p:txBody>
      </p:sp>
      <p:sp>
        <p:nvSpPr>
          <p:cNvPr id="4" name="Text 2"/>
          <p:cNvSpPr txBox="1"/>
          <p:nvPr/>
        </p:nvSpPr>
        <p:spPr>
          <a:xfrm>
            <a:off x="822960" y="2834640"/>
            <a:ext cx="56692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1650" dirty="0">
                <a:solidFill>
                  <a:srgbClr val="1A1A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 judge a company, to invest properly, you must know a great deal about it — and that knowledge lives in many different places, never one.</a:t>
            </a:r>
            <a:endParaRPr lang="en-US" sz="1650" dirty="0"/>
          </a:p>
        </p:txBody>
      </p:sp>
      <p:sp>
        <p:nvSpPr>
          <p:cNvPr id="5" name="Text 3"/>
          <p:cNvSpPr txBox="1"/>
          <p:nvPr/>
        </p:nvSpPr>
        <p:spPr>
          <a:xfrm>
            <a:off x="6035040" y="196596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dirty="0">
                <a:solidFill>
                  <a:srgbClr val="1A1A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Filings (10-Ks, …)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8686800" y="2148840"/>
            <a:ext cx="1097280" cy="1124712"/>
          </a:xfrm>
          <a:prstGeom prst="line">
            <a:avLst/>
          </a:prstGeom>
          <a:noFill/>
          <a:ln w="12700">
            <a:solidFill>
              <a:srgbClr val="D3D3CE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7" name="Text 5"/>
          <p:cNvSpPr txBox="1"/>
          <p:nvPr/>
        </p:nvSpPr>
        <p:spPr>
          <a:xfrm>
            <a:off x="6035040" y="278892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dirty="0">
                <a:solidFill>
                  <a:srgbClr val="1A1A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News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8686800" y="2971800"/>
            <a:ext cx="1097280" cy="301752"/>
          </a:xfrm>
          <a:prstGeom prst="line">
            <a:avLst/>
          </a:prstGeom>
          <a:noFill/>
          <a:ln w="12700">
            <a:solidFill>
              <a:srgbClr val="D3D3CE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9" name="Text 7"/>
          <p:cNvSpPr txBox="1"/>
          <p:nvPr/>
        </p:nvSpPr>
        <p:spPr>
          <a:xfrm>
            <a:off x="6035040" y="361188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dirty="0">
                <a:solidFill>
                  <a:srgbClr val="1A1A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Executives &amp; board decisions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 flipV="1">
            <a:off x="8686800" y="3291841"/>
            <a:ext cx="1024128" cy="502919"/>
          </a:xfrm>
          <a:prstGeom prst="line">
            <a:avLst/>
          </a:prstGeom>
          <a:noFill/>
          <a:ln w="12700">
            <a:solidFill>
              <a:srgbClr val="D3D3CE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11" name="Text 9"/>
          <p:cNvSpPr txBox="1"/>
          <p:nvPr/>
        </p:nvSpPr>
        <p:spPr>
          <a:xfrm>
            <a:off x="6035040" y="443484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dirty="0">
                <a:solidFill>
                  <a:srgbClr val="1A1A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Financial data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 flipV="1">
            <a:off x="8686800" y="3273552"/>
            <a:ext cx="1097280" cy="1344168"/>
          </a:xfrm>
          <a:prstGeom prst="line">
            <a:avLst/>
          </a:prstGeom>
          <a:noFill/>
          <a:ln w="12700">
            <a:solidFill>
              <a:srgbClr val="D3D3CE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13" name="Shape 11"/>
          <p:cNvSpPr/>
          <p:nvPr/>
        </p:nvSpPr>
        <p:spPr>
          <a:xfrm>
            <a:off x="9710928" y="3200400"/>
            <a:ext cx="146304" cy="146304"/>
          </a:xfrm>
          <a:prstGeom prst="ellipse">
            <a:avLst/>
          </a:prstGeom>
          <a:solidFill>
            <a:srgbClr val="2E6E6A"/>
          </a:solidFill>
          <a:ln/>
        </p:spPr>
        <p:txBody>
          <a:bodyPr/>
          <a:lstStyle/>
          <a:p>
            <a:endParaRPr lang="en-IT"/>
          </a:p>
        </p:txBody>
      </p:sp>
      <p:sp>
        <p:nvSpPr>
          <p:cNvPr id="14" name="Text 12"/>
          <p:cNvSpPr txBox="1"/>
          <p:nvPr/>
        </p:nvSpPr>
        <p:spPr>
          <a:xfrm>
            <a:off x="10003536" y="3090672"/>
            <a:ext cx="2148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A1A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single company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822960" y="5943600"/>
            <a:ext cx="105457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i="1" dirty="0">
                <a:solidFill>
                  <a:srgbClr val="8282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10-K — a company's annual report filed with the U.S. SEC.</a:t>
            </a:r>
            <a:endParaRPr lang="en-US" sz="1050" dirty="0"/>
          </a:p>
        </p:txBody>
      </p:sp>
      <p:sp>
        <p:nvSpPr>
          <p:cNvPr id="16" name="Text 14"/>
          <p:cNvSpPr txBox="1"/>
          <p:nvPr/>
        </p:nvSpPr>
        <p:spPr>
          <a:xfrm>
            <a:off x="822960" y="64008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8282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Beyond GraphRAG</a:t>
            </a:r>
            <a:endParaRPr lang="en-US" sz="900" dirty="0"/>
          </a:p>
        </p:txBody>
      </p:sp>
      <p:sp>
        <p:nvSpPr>
          <p:cNvPr id="17" name="Text 15"/>
          <p:cNvSpPr txBox="1"/>
          <p:nvPr/>
        </p:nvSpPr>
        <p:spPr>
          <a:xfrm>
            <a:off x="5882335" y="64008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282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Intro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603504"/>
            <a:ext cx="105457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300" dirty="0">
                <a:solidFill>
                  <a:srgbClr val="8282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A REAL ADVISOR MUST ANSWER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1234440"/>
            <a:ext cx="10545775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1500" dirty="0">
                <a:solidFill>
                  <a:srgbClr val="8282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Questions that quietly defeat a vanilla RAG pipeline:</a:t>
            </a:r>
            <a:endParaRPr lang="en-US" sz="1500" dirty="0"/>
          </a:p>
        </p:txBody>
      </p:sp>
      <p:sp>
        <p:nvSpPr>
          <p:cNvPr id="4" name="Text 2"/>
          <p:cNvSpPr txBox="1"/>
          <p:nvPr/>
        </p:nvSpPr>
        <p:spPr>
          <a:xfrm>
            <a:off x="822960" y="1965960"/>
            <a:ext cx="1033272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2000"/>
              </a:lnSpc>
              <a:spcAft>
                <a:spcPts val="1400"/>
              </a:spcAft>
              <a:buNone/>
            </a:pPr>
            <a:r>
              <a:rPr lang="en-US" sz="2100" i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did a CEO change after joining — and how did the business change with them?</a:t>
            </a:r>
            <a:endParaRPr lang="en-US" sz="2100" dirty="0"/>
          </a:p>
          <a:p>
            <a:pPr marL="0" indent="0" algn="l">
              <a:lnSpc>
                <a:spcPct val="112000"/>
              </a:lnSpc>
              <a:spcAft>
                <a:spcPts val="1400"/>
              </a:spcAft>
              <a:buNone/>
            </a:pPr>
            <a:r>
              <a:rPr lang="en-US" sz="2100" i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set Company A apart from Company B in the same period — and whose approach played out better?</a:t>
            </a:r>
            <a:endParaRPr lang="en-US" sz="2100" dirty="0"/>
          </a:p>
          <a:p>
            <a:pPr marL="0" indent="0" algn="l">
              <a:lnSpc>
                <a:spcPct val="112000"/>
              </a:lnSpc>
              <a:spcAft>
                <a:spcPts val="1400"/>
              </a:spcAft>
              <a:buNone/>
            </a:pPr>
            <a:r>
              <a:rPr lang="en-US" sz="2100" i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did a company's stated priorities shift across consecutive annual reports?</a:t>
            </a:r>
            <a:endParaRPr lang="en-US" sz="2100" dirty="0"/>
          </a:p>
          <a:p>
            <a:pPr marL="0" indent="0" algn="l">
              <a:lnSpc>
                <a:spcPct val="112000"/>
              </a:lnSpc>
              <a:buNone/>
            </a:pPr>
            <a:r>
              <a:rPr lang="en-US" sz="2100" i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Which executives moved between rival firms — and what happened around each move?</a:t>
            </a:r>
            <a:endParaRPr lang="en-US" sz="21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5440680"/>
            <a:ext cx="10545775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1500" b="1" dirty="0">
                <a:solidFill>
                  <a:srgbClr val="2E6E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Multi-hop.  Cross-document.  Comparison.  Change over time.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64008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8282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Beyond GraphRAG</a:t>
            </a:r>
            <a:endParaRPr lang="en-US" sz="900" dirty="0"/>
          </a:p>
        </p:txBody>
      </p:sp>
      <p:sp>
        <p:nvSpPr>
          <p:cNvPr id="7" name="Text 5"/>
          <p:cNvSpPr txBox="1"/>
          <p:nvPr/>
        </p:nvSpPr>
        <p:spPr>
          <a:xfrm>
            <a:off x="5882335" y="64008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282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Intro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603504"/>
            <a:ext cx="105457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300" dirty="0">
                <a:solidFill>
                  <a:srgbClr val="8282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APPROACH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1554480"/>
            <a:ext cx="987552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80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Gather the knowledge, organize it as a graph, access it properly.</a:t>
            </a:r>
            <a:endParaRPr lang="en-US" sz="3800" dirty="0"/>
          </a:p>
        </p:txBody>
      </p:sp>
      <p:sp>
        <p:nvSpPr>
          <p:cNvPr id="4" name="Text 2"/>
          <p:cNvSpPr txBox="1"/>
          <p:nvPr/>
        </p:nvSpPr>
        <p:spPr>
          <a:xfrm>
            <a:off x="822960" y="3977640"/>
            <a:ext cx="8686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1700" dirty="0">
                <a:solidFill>
                  <a:srgbClr val="8282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That spine — a knowledge graph you can grow and query — is what everything else in the course is built on.</a:t>
            </a:r>
            <a:endParaRPr lang="en-US" sz="17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5943600"/>
            <a:ext cx="105457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i="1" dirty="0">
                <a:solidFill>
                  <a:srgbClr val="8282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KG (knowledge graph) — entities and the relationships between them, stored as a graph.</a:t>
            </a:r>
            <a:endParaRPr lang="en-US" sz="105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64008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8282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Beyond GraphRAG</a:t>
            </a:r>
            <a:endParaRPr lang="en-US" sz="900" dirty="0"/>
          </a:p>
        </p:txBody>
      </p:sp>
      <p:sp>
        <p:nvSpPr>
          <p:cNvPr id="7" name="Text 5"/>
          <p:cNvSpPr txBox="1"/>
          <p:nvPr/>
        </p:nvSpPr>
        <p:spPr>
          <a:xfrm>
            <a:off x="5882335" y="64008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282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Intro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603504"/>
            <a:ext cx="105457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300" dirty="0">
                <a:solidFill>
                  <a:srgbClr val="8282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RETRIEVAL, DONE RIGHT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1645920"/>
            <a:ext cx="10545775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400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RAG stays our best friend.</a:t>
            </a:r>
            <a:endParaRPr lang="en-US" sz="4000" dirty="0"/>
          </a:p>
        </p:txBody>
      </p:sp>
      <p:sp>
        <p:nvSpPr>
          <p:cNvPr id="4" name="Text 2"/>
          <p:cNvSpPr txBox="1"/>
          <p:nvPr/>
        </p:nvSpPr>
        <p:spPr>
          <a:xfrm>
            <a:off x="822960" y="2880360"/>
            <a:ext cx="91440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1750" dirty="0">
                <a:solidFill>
                  <a:srgbClr val="8282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question is never whether to retrieve — it's how. RAG has many possible implementations, and the implementation is most of what decides whether it actually works for questions like these.</a:t>
            </a:r>
            <a:endParaRPr lang="en-US" sz="175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64008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8282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Beyond GraphRAG</a:t>
            </a:r>
            <a:endParaRPr lang="en-US" sz="900" dirty="0"/>
          </a:p>
        </p:txBody>
      </p:sp>
      <p:sp>
        <p:nvSpPr>
          <p:cNvPr id="6" name="Text 4"/>
          <p:cNvSpPr txBox="1"/>
          <p:nvPr/>
        </p:nvSpPr>
        <p:spPr>
          <a:xfrm>
            <a:off x="5882335" y="64008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282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Intro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603504"/>
            <a:ext cx="105457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300" dirty="0">
                <a:solidFill>
                  <a:srgbClr val="8282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MODULE 01 · WHERE WE START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1508760"/>
            <a:ext cx="1054577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400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One-shot RAG.</a:t>
            </a:r>
            <a:endParaRPr lang="en-US" sz="4000" dirty="0"/>
          </a:p>
        </p:txBody>
      </p:sp>
      <p:sp>
        <p:nvSpPr>
          <p:cNvPr id="4" name="Text 2"/>
          <p:cNvSpPr txBox="1"/>
          <p:nvPr/>
        </p:nvSpPr>
        <p:spPr>
          <a:xfrm>
            <a:off x="822959" y="2377440"/>
            <a:ext cx="1054577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1A1A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Question</a:t>
            </a:r>
            <a:r>
              <a:rPr lang="en-US" sz="1600" dirty="0">
                <a:solidFill>
                  <a:srgbClr val="8282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→     </a:t>
            </a:r>
            <a:r>
              <a:rPr lang="en-US" sz="1600" dirty="0">
                <a:solidFill>
                  <a:srgbClr val="1A1A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Retrieve chunks</a:t>
            </a:r>
            <a:r>
              <a:rPr lang="en-US" sz="1600" dirty="0">
                <a:solidFill>
                  <a:srgbClr val="8282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→     </a:t>
            </a:r>
            <a:r>
              <a:rPr lang="en-US" sz="1600" dirty="0">
                <a:solidFill>
                  <a:srgbClr val="1A1A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Context</a:t>
            </a:r>
            <a:r>
              <a:rPr lang="en-US" sz="1600" dirty="0">
                <a:solidFill>
                  <a:srgbClr val="8282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→     </a:t>
            </a:r>
            <a:r>
              <a:rPr lang="en-US" sz="1600" dirty="0">
                <a:solidFill>
                  <a:srgbClr val="1A1A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Answer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822959" y="3054096"/>
            <a:ext cx="3270465" cy="13898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1700" dirty="0">
                <a:solidFill>
                  <a:srgbClr val="8282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 works on easy lookups — and visibly stumbles the moment a question needs more than flat similarity.</a:t>
            </a:r>
            <a:endParaRPr lang="en-US" sz="17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64008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8282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Beyond GraphRAG</a:t>
            </a:r>
            <a:endParaRPr lang="en-US" sz="900" dirty="0"/>
          </a:p>
        </p:txBody>
      </p:sp>
      <p:sp>
        <p:nvSpPr>
          <p:cNvPr id="7" name="Text 5"/>
          <p:cNvSpPr txBox="1"/>
          <p:nvPr/>
        </p:nvSpPr>
        <p:spPr>
          <a:xfrm>
            <a:off x="5882335" y="64008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282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Intro</a:t>
            </a:r>
            <a:endParaRPr lang="en-US" sz="900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D6DED5D0-FB12-BC15-08E3-B2C937ED992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32792" y="3085529"/>
            <a:ext cx="6585486" cy="3589591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603504"/>
            <a:ext cx="105457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300" dirty="0">
                <a:solidFill>
                  <a:srgbClr val="8282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MODULE 02 · A SMARTER LOOP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1417320"/>
            <a:ext cx="1054577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400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Agentic RAG.</a:t>
            </a:r>
            <a:endParaRPr lang="en-US" sz="4000" dirty="0"/>
          </a:p>
        </p:txBody>
      </p:sp>
      <p:sp>
        <p:nvSpPr>
          <p:cNvPr id="4" name="Text 2"/>
          <p:cNvSpPr txBox="1"/>
          <p:nvPr/>
        </p:nvSpPr>
        <p:spPr>
          <a:xfrm>
            <a:off x="822960" y="2331720"/>
            <a:ext cx="9601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1700" dirty="0">
                <a:solidFill>
                  <a:srgbClr val="8282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agent chooses a tool, uses it, grades the result — and retries when the retrieval or the answer isn't good enough.</a:t>
            </a:r>
            <a:endParaRPr lang="en-US" sz="1700" dirty="0"/>
          </a:p>
        </p:txBody>
      </p:sp>
      <p:sp>
        <p:nvSpPr>
          <p:cNvPr id="21" name="Text 19"/>
          <p:cNvSpPr txBox="1"/>
          <p:nvPr/>
        </p:nvSpPr>
        <p:spPr>
          <a:xfrm>
            <a:off x="822960" y="64008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8282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Beyond GraphRAG</a:t>
            </a:r>
            <a:endParaRPr lang="en-US" sz="900" dirty="0"/>
          </a:p>
        </p:txBody>
      </p:sp>
      <p:sp>
        <p:nvSpPr>
          <p:cNvPr id="22" name="Text 20"/>
          <p:cNvSpPr txBox="1"/>
          <p:nvPr/>
        </p:nvSpPr>
        <p:spPr>
          <a:xfrm>
            <a:off x="5882335" y="64008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282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Intro</a:t>
            </a:r>
            <a:endParaRPr lang="en-US" sz="900" dirty="0"/>
          </a:p>
        </p:txBody>
      </p:sp>
      <p:pic>
        <p:nvPicPr>
          <p:cNvPr id="24" name="Picture 23">
            <a:extLst>
              <a:ext uri="{FF2B5EF4-FFF2-40B4-BE49-F238E27FC236}">
                <a16:creationId xmlns:a16="http://schemas.microsoft.com/office/drawing/2014/main" id="{41A24C5E-AE27-67AC-4B4D-846F2F4DFC8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9611" y="3085134"/>
            <a:ext cx="10872472" cy="3315666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603504"/>
            <a:ext cx="105457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300" dirty="0">
                <a:solidFill>
                  <a:srgbClr val="8282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THE LOOP MATTERS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1463040"/>
            <a:ext cx="1054577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400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 loop, many tools.</a:t>
            </a:r>
            <a:endParaRPr lang="en-US" sz="4000" dirty="0"/>
          </a:p>
        </p:txBody>
      </p:sp>
      <p:sp>
        <p:nvSpPr>
          <p:cNvPr id="4" name="Text 2"/>
          <p:cNvSpPr txBox="1"/>
          <p:nvPr/>
        </p:nvSpPr>
        <p:spPr>
          <a:xfrm>
            <a:off x="822960" y="2423160"/>
            <a:ext cx="9601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1700" dirty="0">
                <a:solidFill>
                  <a:srgbClr val="8282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Once the agent loop exists, every later module adds a new tool to the same agent — no restructuring.</a:t>
            </a:r>
            <a:endParaRPr lang="en-US" sz="17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3776472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1A1A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2377440" y="3794760"/>
            <a:ext cx="1554480" cy="457200"/>
          </a:xfrm>
          <a:prstGeom prst="roundRect">
            <a:avLst>
              <a:gd name="adj" fmla="val 12000"/>
            </a:avLst>
          </a:prstGeom>
          <a:solidFill>
            <a:srgbClr val="F4F4F2"/>
          </a:solidFill>
          <a:ln w="15875">
            <a:solidFill>
              <a:srgbClr val="1A1A18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7" name="Text 5"/>
          <p:cNvSpPr txBox="1"/>
          <p:nvPr/>
        </p:nvSpPr>
        <p:spPr>
          <a:xfrm>
            <a:off x="2377440" y="3794760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1A1A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vector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4187952" y="3794760"/>
            <a:ext cx="1554480" cy="457200"/>
          </a:xfrm>
          <a:prstGeom prst="roundRect">
            <a:avLst>
              <a:gd name="adj" fmla="val 12000"/>
            </a:avLst>
          </a:prstGeom>
          <a:solidFill>
            <a:srgbClr val="F4F4F2"/>
          </a:solidFill>
          <a:ln w="15875">
            <a:solidFill>
              <a:srgbClr val="1A1A18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9" name="Text 7"/>
          <p:cNvSpPr txBox="1"/>
          <p:nvPr/>
        </p:nvSpPr>
        <p:spPr>
          <a:xfrm>
            <a:off x="4187952" y="3794760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1A1A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full-text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5998464" y="3794760"/>
            <a:ext cx="1554480" cy="457200"/>
          </a:xfrm>
          <a:prstGeom prst="roundRect">
            <a:avLst>
              <a:gd name="adj" fmla="val 12000"/>
            </a:avLst>
          </a:prstGeom>
          <a:solidFill>
            <a:srgbClr val="F4F4F2"/>
          </a:solidFill>
          <a:ln w="15875">
            <a:solidFill>
              <a:srgbClr val="1A1A18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11" name="Text 9"/>
          <p:cNvSpPr txBox="1"/>
          <p:nvPr/>
        </p:nvSpPr>
        <p:spPr>
          <a:xfrm>
            <a:off x="5998464" y="3794760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1A1A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navigation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7808976" y="3794760"/>
            <a:ext cx="1554480" cy="457200"/>
          </a:xfrm>
          <a:prstGeom prst="roundRect">
            <a:avLst>
              <a:gd name="adj" fmla="val 12000"/>
            </a:avLst>
          </a:prstGeom>
          <a:solidFill>
            <a:srgbClr val="F4F4F2"/>
          </a:solidFill>
          <a:ln w="15875">
            <a:solidFill>
              <a:srgbClr val="D3D3CE"/>
            </a:solidFill>
            <a:prstDash val="dash"/>
          </a:ln>
        </p:spPr>
        <p:txBody>
          <a:bodyPr/>
          <a:lstStyle/>
          <a:p>
            <a:endParaRPr lang="en-IT"/>
          </a:p>
        </p:txBody>
      </p:sp>
      <p:sp>
        <p:nvSpPr>
          <p:cNvPr id="13" name="Text 11"/>
          <p:cNvSpPr txBox="1"/>
          <p:nvPr/>
        </p:nvSpPr>
        <p:spPr>
          <a:xfrm>
            <a:off x="7808976" y="3794760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8282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9619488" y="3794760"/>
            <a:ext cx="1554480" cy="457200"/>
          </a:xfrm>
          <a:prstGeom prst="roundRect">
            <a:avLst>
              <a:gd name="adj" fmla="val 12000"/>
            </a:avLst>
          </a:prstGeom>
          <a:solidFill>
            <a:srgbClr val="F4F4F2"/>
          </a:solidFill>
          <a:ln w="15875">
            <a:solidFill>
              <a:srgbClr val="D3D3CE"/>
            </a:solidFill>
            <a:prstDash val="dash"/>
          </a:ln>
        </p:spPr>
        <p:txBody>
          <a:bodyPr/>
          <a:lstStyle/>
          <a:p>
            <a:endParaRPr lang="en-IT"/>
          </a:p>
        </p:txBody>
      </p:sp>
      <p:sp>
        <p:nvSpPr>
          <p:cNvPr id="15" name="Text 13"/>
          <p:cNvSpPr txBox="1"/>
          <p:nvPr/>
        </p:nvSpPr>
        <p:spPr>
          <a:xfrm>
            <a:off x="9619488" y="3794760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8282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2377440" y="44165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i="1" dirty="0">
                <a:solidFill>
                  <a:srgbClr val="8282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later modules add tools to the same agent</a:t>
            </a:r>
            <a:endParaRPr lang="en-US" sz="1100" dirty="0"/>
          </a:p>
        </p:txBody>
      </p:sp>
      <p:sp>
        <p:nvSpPr>
          <p:cNvPr id="17" name="Text 15"/>
          <p:cNvSpPr txBox="1"/>
          <p:nvPr/>
        </p:nvSpPr>
        <p:spPr>
          <a:xfrm>
            <a:off x="822960" y="64008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8282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Beyond GraphRAG</a:t>
            </a:r>
            <a:endParaRPr lang="en-US" sz="900" dirty="0"/>
          </a:p>
        </p:txBody>
      </p:sp>
      <p:sp>
        <p:nvSpPr>
          <p:cNvPr id="18" name="Text 16"/>
          <p:cNvSpPr txBox="1"/>
          <p:nvPr/>
        </p:nvSpPr>
        <p:spPr>
          <a:xfrm>
            <a:off x="5882335" y="64008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282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Intro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603504"/>
            <a:ext cx="105457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300" dirty="0">
                <a:solidFill>
                  <a:srgbClr val="8282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THESIS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1417320"/>
            <a:ext cx="100584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80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Agentic RAG is only as good as the knowledge base behind it.</a:t>
            </a:r>
            <a:endParaRPr lang="en-US" sz="3800" dirty="0"/>
          </a:p>
        </p:txBody>
      </p:sp>
      <p:sp>
        <p:nvSpPr>
          <p:cNvPr id="4" name="Text 2"/>
          <p:cNvSpPr txBox="1"/>
          <p:nvPr/>
        </p:nvSpPr>
        <p:spPr>
          <a:xfrm>
            <a:off x="822960" y="3611880"/>
            <a:ext cx="9601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1700" dirty="0">
                <a:solidFill>
                  <a:srgbClr val="8282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flexible agent is wasted on a store that can't grow. Extensible retrieval has to be paired with an extensible knowledge store —</a:t>
            </a:r>
            <a:endParaRPr lang="en-US" sz="17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4709160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i="1" dirty="0">
                <a:solidFill>
                  <a:srgbClr val="2E6E6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knowledge graph</a:t>
            </a:r>
            <a:r>
              <a:rPr lang="en-US" sz="2200" i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, not a flat vector index.</a:t>
            </a:r>
            <a:endParaRPr lang="en-US" sz="22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64008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8282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Beyond GraphRAG</a:t>
            </a:r>
            <a:endParaRPr lang="en-US" sz="900" dirty="0"/>
          </a:p>
        </p:txBody>
      </p:sp>
      <p:sp>
        <p:nvSpPr>
          <p:cNvPr id="7" name="Text 5"/>
          <p:cNvSpPr txBox="1"/>
          <p:nvPr/>
        </p:nvSpPr>
        <p:spPr>
          <a:xfrm>
            <a:off x="5882335" y="64008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282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Intro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603504"/>
            <a:ext cx="105457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300" dirty="0">
                <a:solidFill>
                  <a:srgbClr val="8282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PATH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1554480"/>
            <a:ext cx="1054577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00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Seven layers. Each one earns its place.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868680" y="3977640"/>
            <a:ext cx="10451592" cy="0"/>
          </a:xfrm>
          <a:prstGeom prst="line">
            <a:avLst/>
          </a:prstGeom>
          <a:noFill/>
          <a:ln w="12700">
            <a:solidFill>
              <a:srgbClr val="D3D3CE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5" name="Shape 3"/>
          <p:cNvSpPr/>
          <p:nvPr/>
        </p:nvSpPr>
        <p:spPr>
          <a:xfrm>
            <a:off x="795528" y="3904488"/>
            <a:ext cx="146304" cy="146304"/>
          </a:xfrm>
          <a:prstGeom prst="ellipse">
            <a:avLst/>
          </a:prstGeom>
          <a:solidFill>
            <a:srgbClr val="F4F4F2"/>
          </a:solidFill>
          <a:ln w="12700">
            <a:solidFill>
              <a:srgbClr val="D3D3CE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6" name="Text 4"/>
          <p:cNvSpPr txBox="1"/>
          <p:nvPr/>
        </p:nvSpPr>
        <p:spPr>
          <a:xfrm>
            <a:off x="91440" y="3465576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BBBB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100" dirty="0"/>
          </a:p>
        </p:txBody>
      </p:sp>
      <p:sp>
        <p:nvSpPr>
          <p:cNvPr id="7" name="Text 5"/>
          <p:cNvSpPr txBox="1"/>
          <p:nvPr/>
        </p:nvSpPr>
        <p:spPr>
          <a:xfrm>
            <a:off x="45720" y="4160520"/>
            <a:ext cx="1645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2000"/>
              </a:lnSpc>
              <a:buNone/>
            </a:pPr>
            <a:r>
              <a:rPr lang="en-US" sz="1000" dirty="0">
                <a:solidFill>
                  <a:srgbClr val="8282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Baseline</a:t>
            </a:r>
            <a:endParaRPr lang="en-US" sz="1000" dirty="0"/>
          </a:p>
          <a:p>
            <a:pPr marL="0" indent="0" algn="ctr">
              <a:lnSpc>
                <a:spcPct val="102000"/>
              </a:lnSpc>
              <a:buNone/>
            </a:pPr>
            <a:r>
              <a:rPr lang="en-US" sz="1000" dirty="0">
                <a:solidFill>
                  <a:srgbClr val="8282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RAG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537460" y="3904488"/>
            <a:ext cx="146304" cy="146304"/>
          </a:xfrm>
          <a:prstGeom prst="ellipse">
            <a:avLst/>
          </a:prstGeom>
          <a:solidFill>
            <a:srgbClr val="F4F4F2"/>
          </a:solidFill>
          <a:ln w="12700">
            <a:solidFill>
              <a:srgbClr val="D3D3CE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9" name="Text 7"/>
          <p:cNvSpPr txBox="1"/>
          <p:nvPr/>
        </p:nvSpPr>
        <p:spPr>
          <a:xfrm>
            <a:off x="1833372" y="3465576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BBBB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100" dirty="0"/>
          </a:p>
        </p:txBody>
      </p:sp>
      <p:sp>
        <p:nvSpPr>
          <p:cNvPr id="10" name="Text 8"/>
          <p:cNvSpPr txBox="1"/>
          <p:nvPr/>
        </p:nvSpPr>
        <p:spPr>
          <a:xfrm>
            <a:off x="1787652" y="4160520"/>
            <a:ext cx="1645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2000"/>
              </a:lnSpc>
              <a:buNone/>
            </a:pPr>
            <a:r>
              <a:rPr lang="en-US" sz="1000" dirty="0">
                <a:solidFill>
                  <a:srgbClr val="8282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Agentic</a:t>
            </a:r>
            <a:endParaRPr lang="en-US" sz="1000" dirty="0"/>
          </a:p>
          <a:p>
            <a:pPr marL="0" indent="0" algn="ctr">
              <a:lnSpc>
                <a:spcPct val="102000"/>
              </a:lnSpc>
              <a:buNone/>
            </a:pPr>
            <a:r>
              <a:rPr lang="en-US" sz="1000" dirty="0">
                <a:solidFill>
                  <a:srgbClr val="8282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retrieval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279392" y="3904488"/>
            <a:ext cx="146304" cy="146304"/>
          </a:xfrm>
          <a:prstGeom prst="ellipse">
            <a:avLst/>
          </a:prstGeom>
          <a:solidFill>
            <a:srgbClr val="F4F4F2"/>
          </a:solidFill>
          <a:ln w="12700">
            <a:solidFill>
              <a:srgbClr val="D3D3CE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12" name="Text 10"/>
          <p:cNvSpPr txBox="1"/>
          <p:nvPr/>
        </p:nvSpPr>
        <p:spPr>
          <a:xfrm>
            <a:off x="3575304" y="3465576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BBBB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100" dirty="0"/>
          </a:p>
        </p:txBody>
      </p:sp>
      <p:sp>
        <p:nvSpPr>
          <p:cNvPr id="13" name="Text 11"/>
          <p:cNvSpPr txBox="1"/>
          <p:nvPr/>
        </p:nvSpPr>
        <p:spPr>
          <a:xfrm>
            <a:off x="3529584" y="4160520"/>
            <a:ext cx="1645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2000"/>
              </a:lnSpc>
              <a:buNone/>
            </a:pPr>
            <a:r>
              <a:rPr lang="en-US" sz="1000" dirty="0">
                <a:solidFill>
                  <a:srgbClr val="8282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Structured</a:t>
            </a:r>
            <a:endParaRPr lang="en-US" sz="1000" dirty="0"/>
          </a:p>
          <a:p>
            <a:pPr marL="0" indent="0" algn="ctr">
              <a:lnSpc>
                <a:spcPct val="102000"/>
              </a:lnSpc>
              <a:buNone/>
            </a:pPr>
            <a:r>
              <a:rPr lang="en-US" sz="1000" dirty="0">
                <a:solidFill>
                  <a:srgbClr val="8282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enrichment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6021324" y="3904488"/>
            <a:ext cx="146304" cy="146304"/>
          </a:xfrm>
          <a:prstGeom prst="ellipse">
            <a:avLst/>
          </a:prstGeom>
          <a:solidFill>
            <a:srgbClr val="F4F4F2"/>
          </a:solidFill>
          <a:ln w="12700">
            <a:solidFill>
              <a:srgbClr val="D3D3CE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15" name="Text 13"/>
          <p:cNvSpPr txBox="1"/>
          <p:nvPr/>
        </p:nvSpPr>
        <p:spPr>
          <a:xfrm>
            <a:off x="5317236" y="3465576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BBBB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100" dirty="0"/>
          </a:p>
        </p:txBody>
      </p:sp>
      <p:sp>
        <p:nvSpPr>
          <p:cNvPr id="16" name="Text 14"/>
          <p:cNvSpPr txBox="1"/>
          <p:nvPr/>
        </p:nvSpPr>
        <p:spPr>
          <a:xfrm>
            <a:off x="5271516" y="4160520"/>
            <a:ext cx="1645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2000"/>
              </a:lnSpc>
              <a:buNone/>
            </a:pPr>
            <a:r>
              <a:rPr lang="en-US" sz="1000" dirty="0">
                <a:solidFill>
                  <a:srgbClr val="8282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LLM</a:t>
            </a:r>
            <a:endParaRPr lang="en-US" sz="1000" dirty="0"/>
          </a:p>
          <a:p>
            <a:pPr marL="0" indent="0" algn="ctr">
              <a:lnSpc>
                <a:spcPct val="102000"/>
              </a:lnSpc>
              <a:buNone/>
            </a:pPr>
            <a:r>
              <a:rPr lang="en-US" sz="1000" dirty="0">
                <a:solidFill>
                  <a:srgbClr val="8282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extraction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7763256" y="3904488"/>
            <a:ext cx="146304" cy="146304"/>
          </a:xfrm>
          <a:prstGeom prst="ellipse">
            <a:avLst/>
          </a:prstGeom>
          <a:solidFill>
            <a:srgbClr val="F4F4F2"/>
          </a:solidFill>
          <a:ln w="12700">
            <a:solidFill>
              <a:srgbClr val="D3D3CE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18" name="Text 16"/>
          <p:cNvSpPr txBox="1"/>
          <p:nvPr/>
        </p:nvSpPr>
        <p:spPr>
          <a:xfrm>
            <a:off x="7059168" y="3465576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BBBB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1100" dirty="0"/>
          </a:p>
        </p:txBody>
      </p:sp>
      <p:sp>
        <p:nvSpPr>
          <p:cNvPr id="19" name="Text 17"/>
          <p:cNvSpPr txBox="1"/>
          <p:nvPr/>
        </p:nvSpPr>
        <p:spPr>
          <a:xfrm>
            <a:off x="7013448" y="4160520"/>
            <a:ext cx="1645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2000"/>
              </a:lnSpc>
              <a:buNone/>
            </a:pPr>
            <a:r>
              <a:rPr lang="en-US" sz="1000" dirty="0">
                <a:solidFill>
                  <a:srgbClr val="8282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Similarity &amp;</a:t>
            </a:r>
            <a:endParaRPr lang="en-US" sz="1000" dirty="0"/>
          </a:p>
          <a:p>
            <a:pPr marL="0" indent="0" algn="ctr">
              <a:lnSpc>
                <a:spcPct val="102000"/>
              </a:lnSpc>
              <a:buNone/>
            </a:pPr>
            <a:r>
              <a:rPr lang="en-US" sz="1000" dirty="0">
                <a:solidFill>
                  <a:srgbClr val="8282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resolution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9505188" y="3904488"/>
            <a:ext cx="146304" cy="146304"/>
          </a:xfrm>
          <a:prstGeom prst="ellipse">
            <a:avLst/>
          </a:prstGeom>
          <a:solidFill>
            <a:srgbClr val="F4F4F2"/>
          </a:solidFill>
          <a:ln w="12700">
            <a:solidFill>
              <a:srgbClr val="D3D3CE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21" name="Text 19"/>
          <p:cNvSpPr txBox="1"/>
          <p:nvPr/>
        </p:nvSpPr>
        <p:spPr>
          <a:xfrm>
            <a:off x="8801100" y="3465576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BBBB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1100" dirty="0"/>
          </a:p>
        </p:txBody>
      </p:sp>
      <p:sp>
        <p:nvSpPr>
          <p:cNvPr id="22" name="Text 20"/>
          <p:cNvSpPr txBox="1"/>
          <p:nvPr/>
        </p:nvSpPr>
        <p:spPr>
          <a:xfrm>
            <a:off x="8755380" y="4160520"/>
            <a:ext cx="1645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2000"/>
              </a:lnSpc>
              <a:buNone/>
            </a:pPr>
            <a:r>
              <a:rPr lang="en-US" sz="1000" dirty="0">
                <a:solidFill>
                  <a:srgbClr val="8282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Text2Cypher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11247120" y="3904488"/>
            <a:ext cx="146304" cy="146304"/>
          </a:xfrm>
          <a:prstGeom prst="ellipse">
            <a:avLst/>
          </a:prstGeom>
          <a:solidFill>
            <a:srgbClr val="F4F4F2"/>
          </a:solidFill>
          <a:ln w="12700">
            <a:solidFill>
              <a:srgbClr val="D3D3CE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24" name="Text 22"/>
          <p:cNvSpPr txBox="1"/>
          <p:nvPr/>
        </p:nvSpPr>
        <p:spPr>
          <a:xfrm>
            <a:off x="10543032" y="3465576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BBBB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</a:t>
            </a:r>
            <a:endParaRPr lang="en-US" sz="1100" dirty="0"/>
          </a:p>
        </p:txBody>
      </p:sp>
      <p:sp>
        <p:nvSpPr>
          <p:cNvPr id="25" name="Text 23"/>
          <p:cNvSpPr txBox="1"/>
          <p:nvPr/>
        </p:nvSpPr>
        <p:spPr>
          <a:xfrm>
            <a:off x="10497312" y="4160520"/>
            <a:ext cx="1645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2000"/>
              </a:lnSpc>
              <a:buNone/>
            </a:pPr>
            <a:r>
              <a:rPr lang="en-US" sz="1000" dirty="0">
                <a:solidFill>
                  <a:srgbClr val="8282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Evaluation &amp;</a:t>
            </a:r>
            <a:endParaRPr lang="en-US" sz="1000" dirty="0"/>
          </a:p>
          <a:p>
            <a:pPr marL="0" indent="0" algn="ctr">
              <a:lnSpc>
                <a:spcPct val="102000"/>
              </a:lnSpc>
              <a:buNone/>
            </a:pPr>
            <a:r>
              <a:rPr lang="en-US" sz="1000" dirty="0">
                <a:solidFill>
                  <a:srgbClr val="8282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production</a:t>
            </a:r>
            <a:endParaRPr lang="en-US" sz="1000" dirty="0"/>
          </a:p>
        </p:txBody>
      </p:sp>
      <p:sp>
        <p:nvSpPr>
          <p:cNvPr id="26" name="Text 24"/>
          <p:cNvSpPr txBox="1"/>
          <p:nvPr/>
        </p:nvSpPr>
        <p:spPr>
          <a:xfrm>
            <a:off x="822960" y="5257800"/>
            <a:ext cx="10058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1500" dirty="0">
                <a:solidFill>
                  <a:srgbClr val="8282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module ends with a system that is visibly better than the last — motivated by a limitation you just watched the previous one hit.</a:t>
            </a:r>
            <a:endParaRPr lang="en-US" sz="1500" dirty="0"/>
          </a:p>
        </p:txBody>
      </p:sp>
      <p:sp>
        <p:nvSpPr>
          <p:cNvPr id="27" name="Text 25"/>
          <p:cNvSpPr txBox="1"/>
          <p:nvPr/>
        </p:nvSpPr>
        <p:spPr>
          <a:xfrm>
            <a:off x="822960" y="64008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8282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Beyond GraphRAG</a:t>
            </a:r>
            <a:endParaRPr lang="en-US" sz="900" dirty="0"/>
          </a:p>
        </p:txBody>
      </p:sp>
      <p:sp>
        <p:nvSpPr>
          <p:cNvPr id="28" name="Text 26"/>
          <p:cNvSpPr txBox="1"/>
          <p:nvPr/>
        </p:nvSpPr>
        <p:spPr>
          <a:xfrm>
            <a:off x="5882335" y="64008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282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Intro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603504"/>
            <a:ext cx="105457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300" dirty="0">
                <a:solidFill>
                  <a:srgbClr val="8282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WE'LL BUILD IT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1508760"/>
            <a:ext cx="100584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60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Grow the graph one layer at a time — and use each layer at once.</a:t>
            </a:r>
            <a:endParaRPr lang="en-US" sz="3600" dirty="0"/>
          </a:p>
        </p:txBody>
      </p:sp>
      <p:sp>
        <p:nvSpPr>
          <p:cNvPr id="4" name="Text 2"/>
          <p:cNvSpPr txBox="1"/>
          <p:nvPr/>
        </p:nvSpPr>
        <p:spPr>
          <a:xfrm>
            <a:off x="822960" y="3794760"/>
            <a:ext cx="9601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1700" dirty="0">
                <a:solidFill>
                  <a:srgbClr val="8282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Never build ahead of what we can demonstrate. Modules 3–7 each add one capability to the graph and one to the agent, in the same step.</a:t>
            </a:r>
            <a:endParaRPr lang="en-US" sz="17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64008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8282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Beyond GraphRAG</a:t>
            </a:r>
            <a:endParaRPr lang="en-US" sz="900" dirty="0"/>
          </a:p>
        </p:txBody>
      </p:sp>
      <p:sp>
        <p:nvSpPr>
          <p:cNvPr id="6" name="Text 4"/>
          <p:cNvSpPr txBox="1"/>
          <p:nvPr/>
        </p:nvSpPr>
        <p:spPr>
          <a:xfrm>
            <a:off x="5882335" y="64008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282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Intro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603504"/>
            <a:ext cx="105457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300" dirty="0">
                <a:solidFill>
                  <a:srgbClr val="8282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STACK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1234440"/>
            <a:ext cx="1054577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00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it's built on.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822960" y="228600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1A1A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Neo4j</a:t>
            </a:r>
            <a:r>
              <a:rPr lang="en-US" sz="1500" dirty="0">
                <a:solidFill>
                  <a:srgbClr val="8282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—   property graph + native vector index + text search index</a:t>
            </a:r>
            <a:endParaRPr lang="en-US" sz="15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3310128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1A1A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LangGraph</a:t>
            </a:r>
            <a:r>
              <a:rPr lang="en-US" sz="1500" dirty="0">
                <a:solidFill>
                  <a:srgbClr val="8282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—   agent loop with retrieval- and answer-grading steps, plus retry edges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3827215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1A1A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Azure OpenAI</a:t>
            </a:r>
            <a:r>
              <a:rPr lang="en-US" sz="1500" dirty="0">
                <a:solidFill>
                  <a:srgbClr val="8282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—   chat / agent reasoning only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4334707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1A1A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Local embeddings</a:t>
            </a:r>
            <a:r>
              <a:rPr lang="en-US" sz="1500" dirty="0">
                <a:solidFill>
                  <a:srgbClr val="8282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—   sentence-transformers, BAAI/bge-m3 — no embedding API call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822960" y="4855464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1A1A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Docling</a:t>
            </a:r>
            <a:r>
              <a:rPr lang="en-US" sz="1500" dirty="0">
                <a:solidFill>
                  <a:srgbClr val="8282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—   PDF parsing &amp; chunking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822960" y="2798064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1A1A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LangChain</a:t>
            </a:r>
            <a:r>
              <a:rPr lang="en-US" sz="1500" dirty="0">
                <a:solidFill>
                  <a:srgbClr val="8282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—   tool wrapping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822960" y="5367754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1A1A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Pydantic</a:t>
            </a:r>
            <a:r>
              <a:rPr lang="en-US" sz="1500" dirty="0">
                <a:solidFill>
                  <a:srgbClr val="8282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—   schema validation throughout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822960" y="64008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8282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Beyond GraphRAG</a:t>
            </a:r>
            <a:endParaRPr lang="en-US" sz="900" dirty="0"/>
          </a:p>
        </p:txBody>
      </p:sp>
      <p:sp>
        <p:nvSpPr>
          <p:cNvPr id="12" name="Text 10"/>
          <p:cNvSpPr txBox="1"/>
          <p:nvPr/>
        </p:nvSpPr>
        <p:spPr>
          <a:xfrm>
            <a:off x="5882335" y="64008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282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Intro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603504"/>
            <a:ext cx="105457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300" dirty="0">
                <a:solidFill>
                  <a:srgbClr val="8282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UP FIRST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1234440"/>
            <a:ext cx="1054577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200" dirty="0">
                <a:solidFill>
                  <a:srgbClr val="82827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Module 01</a:t>
            </a:r>
            <a:endParaRPr lang="en-US" sz="2200" dirty="0"/>
          </a:p>
        </p:txBody>
      </p:sp>
      <p:sp>
        <p:nvSpPr>
          <p:cNvPr id="4" name="Text 2"/>
          <p:cNvSpPr txBox="1"/>
          <p:nvPr/>
        </p:nvSpPr>
        <p:spPr>
          <a:xfrm>
            <a:off x="822960" y="1691640"/>
            <a:ext cx="1054577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80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Baseline RAG on filings.</a:t>
            </a:r>
            <a:endParaRPr lang="en-US" sz="3800" dirty="0"/>
          </a:p>
        </p:txBody>
      </p:sp>
      <p:sp>
        <p:nvSpPr>
          <p:cNvPr id="5" name="Shape 3"/>
          <p:cNvSpPr/>
          <p:nvPr/>
        </p:nvSpPr>
        <p:spPr>
          <a:xfrm>
            <a:off x="868680" y="3977640"/>
            <a:ext cx="10451592" cy="0"/>
          </a:xfrm>
          <a:prstGeom prst="line">
            <a:avLst/>
          </a:prstGeom>
          <a:noFill/>
          <a:ln w="12700">
            <a:solidFill>
              <a:srgbClr val="D3D3CE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6" name="Shape 4"/>
          <p:cNvSpPr/>
          <p:nvPr/>
        </p:nvSpPr>
        <p:spPr>
          <a:xfrm>
            <a:off x="868680" y="3977640"/>
            <a:ext cx="0" cy="0"/>
          </a:xfrm>
          <a:prstGeom prst="line">
            <a:avLst/>
          </a:prstGeom>
          <a:noFill/>
          <a:ln w="19050">
            <a:solidFill>
              <a:srgbClr val="1A1A18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7" name="Shape 5"/>
          <p:cNvSpPr/>
          <p:nvPr/>
        </p:nvSpPr>
        <p:spPr>
          <a:xfrm>
            <a:off x="749808" y="3858768"/>
            <a:ext cx="237744" cy="237744"/>
          </a:xfrm>
          <a:prstGeom prst="ellipse">
            <a:avLst/>
          </a:prstGeom>
          <a:solidFill>
            <a:srgbClr val="2E6E6A"/>
          </a:solidFill>
          <a:ln/>
        </p:spPr>
        <p:txBody>
          <a:bodyPr/>
          <a:lstStyle/>
          <a:p>
            <a:endParaRPr lang="en-IT"/>
          </a:p>
        </p:txBody>
      </p:sp>
      <p:sp>
        <p:nvSpPr>
          <p:cNvPr id="8" name="Text 6"/>
          <p:cNvSpPr txBox="1"/>
          <p:nvPr/>
        </p:nvSpPr>
        <p:spPr>
          <a:xfrm>
            <a:off x="91440" y="3465576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E6E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45720" y="4160520"/>
            <a:ext cx="1645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2000"/>
              </a:lnSpc>
              <a:buNone/>
            </a:pPr>
            <a:r>
              <a:rPr lang="en-US" sz="1000" b="1" dirty="0">
                <a:solidFill>
                  <a:srgbClr val="1A1A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Baseline</a:t>
            </a:r>
            <a:endParaRPr lang="en-US" sz="1000" dirty="0"/>
          </a:p>
          <a:p>
            <a:pPr marL="0" indent="0" algn="ctr">
              <a:lnSpc>
                <a:spcPct val="102000"/>
              </a:lnSpc>
              <a:buNone/>
            </a:pPr>
            <a:r>
              <a:rPr lang="en-US" sz="1000" b="1" dirty="0">
                <a:solidFill>
                  <a:srgbClr val="1A1A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RAG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2537460" y="3904488"/>
            <a:ext cx="146304" cy="146304"/>
          </a:xfrm>
          <a:prstGeom prst="ellipse">
            <a:avLst/>
          </a:prstGeom>
          <a:solidFill>
            <a:srgbClr val="F4F4F2"/>
          </a:solidFill>
          <a:ln w="12700">
            <a:solidFill>
              <a:srgbClr val="D3D3CE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11" name="Text 9"/>
          <p:cNvSpPr txBox="1"/>
          <p:nvPr/>
        </p:nvSpPr>
        <p:spPr>
          <a:xfrm>
            <a:off x="1833372" y="3465576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BBBB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1787652" y="4160520"/>
            <a:ext cx="1645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2000"/>
              </a:lnSpc>
              <a:buNone/>
            </a:pPr>
            <a:r>
              <a:rPr lang="en-US" sz="1000" dirty="0">
                <a:solidFill>
                  <a:srgbClr val="8282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Agentic</a:t>
            </a:r>
            <a:endParaRPr lang="en-US" sz="1000" dirty="0"/>
          </a:p>
          <a:p>
            <a:pPr marL="0" indent="0" algn="ctr">
              <a:lnSpc>
                <a:spcPct val="102000"/>
              </a:lnSpc>
              <a:buNone/>
            </a:pPr>
            <a:r>
              <a:rPr lang="en-US" sz="1000" dirty="0">
                <a:solidFill>
                  <a:srgbClr val="8282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retrieval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279392" y="3904488"/>
            <a:ext cx="146304" cy="146304"/>
          </a:xfrm>
          <a:prstGeom prst="ellipse">
            <a:avLst/>
          </a:prstGeom>
          <a:solidFill>
            <a:srgbClr val="F4F4F2"/>
          </a:solidFill>
          <a:ln w="12700">
            <a:solidFill>
              <a:srgbClr val="D3D3CE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14" name="Text 12"/>
          <p:cNvSpPr txBox="1"/>
          <p:nvPr/>
        </p:nvSpPr>
        <p:spPr>
          <a:xfrm>
            <a:off x="3575304" y="3465576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BBBB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100" dirty="0"/>
          </a:p>
        </p:txBody>
      </p:sp>
      <p:sp>
        <p:nvSpPr>
          <p:cNvPr id="15" name="Text 13"/>
          <p:cNvSpPr txBox="1"/>
          <p:nvPr/>
        </p:nvSpPr>
        <p:spPr>
          <a:xfrm>
            <a:off x="3529584" y="4160520"/>
            <a:ext cx="1645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2000"/>
              </a:lnSpc>
              <a:buNone/>
            </a:pPr>
            <a:r>
              <a:rPr lang="en-US" sz="1000" dirty="0">
                <a:solidFill>
                  <a:srgbClr val="8282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Structured</a:t>
            </a:r>
            <a:endParaRPr lang="en-US" sz="1000" dirty="0"/>
          </a:p>
          <a:p>
            <a:pPr marL="0" indent="0" algn="ctr">
              <a:lnSpc>
                <a:spcPct val="102000"/>
              </a:lnSpc>
              <a:buNone/>
            </a:pPr>
            <a:r>
              <a:rPr lang="en-US" sz="1000" dirty="0">
                <a:solidFill>
                  <a:srgbClr val="8282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enrichment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6021324" y="3904488"/>
            <a:ext cx="146304" cy="146304"/>
          </a:xfrm>
          <a:prstGeom prst="ellipse">
            <a:avLst/>
          </a:prstGeom>
          <a:solidFill>
            <a:srgbClr val="F4F4F2"/>
          </a:solidFill>
          <a:ln w="12700">
            <a:solidFill>
              <a:srgbClr val="D3D3CE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17" name="Text 15"/>
          <p:cNvSpPr txBox="1"/>
          <p:nvPr/>
        </p:nvSpPr>
        <p:spPr>
          <a:xfrm>
            <a:off x="5317236" y="3465576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BBBB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100" dirty="0"/>
          </a:p>
        </p:txBody>
      </p:sp>
      <p:sp>
        <p:nvSpPr>
          <p:cNvPr id="18" name="Text 16"/>
          <p:cNvSpPr txBox="1"/>
          <p:nvPr/>
        </p:nvSpPr>
        <p:spPr>
          <a:xfrm>
            <a:off x="5271516" y="4160520"/>
            <a:ext cx="1645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2000"/>
              </a:lnSpc>
              <a:buNone/>
            </a:pPr>
            <a:r>
              <a:rPr lang="en-US" sz="1000" dirty="0">
                <a:solidFill>
                  <a:srgbClr val="8282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LLM</a:t>
            </a:r>
            <a:endParaRPr lang="en-US" sz="1000" dirty="0"/>
          </a:p>
          <a:p>
            <a:pPr marL="0" indent="0" algn="ctr">
              <a:lnSpc>
                <a:spcPct val="102000"/>
              </a:lnSpc>
              <a:buNone/>
            </a:pPr>
            <a:r>
              <a:rPr lang="en-US" sz="1000" dirty="0">
                <a:solidFill>
                  <a:srgbClr val="8282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extraction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7763256" y="3904488"/>
            <a:ext cx="146304" cy="146304"/>
          </a:xfrm>
          <a:prstGeom prst="ellipse">
            <a:avLst/>
          </a:prstGeom>
          <a:solidFill>
            <a:srgbClr val="F4F4F2"/>
          </a:solidFill>
          <a:ln w="12700">
            <a:solidFill>
              <a:srgbClr val="D3D3CE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20" name="Text 18"/>
          <p:cNvSpPr txBox="1"/>
          <p:nvPr/>
        </p:nvSpPr>
        <p:spPr>
          <a:xfrm>
            <a:off x="7059168" y="3465576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BBBB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1100" dirty="0"/>
          </a:p>
        </p:txBody>
      </p:sp>
      <p:sp>
        <p:nvSpPr>
          <p:cNvPr id="21" name="Text 19"/>
          <p:cNvSpPr txBox="1"/>
          <p:nvPr/>
        </p:nvSpPr>
        <p:spPr>
          <a:xfrm>
            <a:off x="7013448" y="4160520"/>
            <a:ext cx="1645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2000"/>
              </a:lnSpc>
              <a:buNone/>
            </a:pPr>
            <a:r>
              <a:rPr lang="en-US" sz="1000" dirty="0">
                <a:solidFill>
                  <a:srgbClr val="8282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Similarity &amp;</a:t>
            </a:r>
            <a:endParaRPr lang="en-US" sz="1000" dirty="0"/>
          </a:p>
          <a:p>
            <a:pPr marL="0" indent="0" algn="ctr">
              <a:lnSpc>
                <a:spcPct val="102000"/>
              </a:lnSpc>
              <a:buNone/>
            </a:pPr>
            <a:r>
              <a:rPr lang="en-US" sz="1000" dirty="0">
                <a:solidFill>
                  <a:srgbClr val="8282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resolution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9505188" y="3904488"/>
            <a:ext cx="146304" cy="146304"/>
          </a:xfrm>
          <a:prstGeom prst="ellipse">
            <a:avLst/>
          </a:prstGeom>
          <a:solidFill>
            <a:srgbClr val="F4F4F2"/>
          </a:solidFill>
          <a:ln w="12700">
            <a:solidFill>
              <a:srgbClr val="D3D3CE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23" name="Text 21"/>
          <p:cNvSpPr txBox="1"/>
          <p:nvPr/>
        </p:nvSpPr>
        <p:spPr>
          <a:xfrm>
            <a:off x="8801100" y="3465576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BBBB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1100" dirty="0"/>
          </a:p>
        </p:txBody>
      </p:sp>
      <p:sp>
        <p:nvSpPr>
          <p:cNvPr id="24" name="Text 22"/>
          <p:cNvSpPr txBox="1"/>
          <p:nvPr/>
        </p:nvSpPr>
        <p:spPr>
          <a:xfrm>
            <a:off x="8755380" y="4160520"/>
            <a:ext cx="1645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2000"/>
              </a:lnSpc>
              <a:buNone/>
            </a:pPr>
            <a:r>
              <a:rPr lang="en-US" sz="1000" dirty="0">
                <a:solidFill>
                  <a:srgbClr val="8282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Text2Cypher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11247120" y="3904488"/>
            <a:ext cx="146304" cy="146304"/>
          </a:xfrm>
          <a:prstGeom prst="ellipse">
            <a:avLst/>
          </a:prstGeom>
          <a:solidFill>
            <a:srgbClr val="F4F4F2"/>
          </a:solidFill>
          <a:ln w="12700">
            <a:solidFill>
              <a:srgbClr val="D3D3CE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26" name="Text 24"/>
          <p:cNvSpPr txBox="1"/>
          <p:nvPr/>
        </p:nvSpPr>
        <p:spPr>
          <a:xfrm>
            <a:off x="10543032" y="3465576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BBBB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</a:t>
            </a:r>
            <a:endParaRPr lang="en-US" sz="1100" dirty="0"/>
          </a:p>
        </p:txBody>
      </p:sp>
      <p:sp>
        <p:nvSpPr>
          <p:cNvPr id="27" name="Text 25"/>
          <p:cNvSpPr txBox="1"/>
          <p:nvPr/>
        </p:nvSpPr>
        <p:spPr>
          <a:xfrm>
            <a:off x="10497312" y="4160520"/>
            <a:ext cx="1645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2000"/>
              </a:lnSpc>
              <a:buNone/>
            </a:pPr>
            <a:r>
              <a:rPr lang="en-US" sz="1000" dirty="0">
                <a:solidFill>
                  <a:srgbClr val="8282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Evaluation &amp;</a:t>
            </a:r>
            <a:endParaRPr lang="en-US" sz="1000" dirty="0"/>
          </a:p>
          <a:p>
            <a:pPr marL="0" indent="0" algn="ctr">
              <a:lnSpc>
                <a:spcPct val="102000"/>
              </a:lnSpc>
              <a:buNone/>
            </a:pPr>
            <a:r>
              <a:rPr lang="en-US" sz="1000" dirty="0">
                <a:solidFill>
                  <a:srgbClr val="8282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production</a:t>
            </a:r>
            <a:endParaRPr lang="en-US" sz="1000" dirty="0"/>
          </a:p>
        </p:txBody>
      </p:sp>
      <p:sp>
        <p:nvSpPr>
          <p:cNvPr id="28" name="Text 26"/>
          <p:cNvSpPr txBox="1"/>
          <p:nvPr/>
        </p:nvSpPr>
        <p:spPr>
          <a:xfrm>
            <a:off x="822960" y="5257800"/>
            <a:ext cx="10058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1500" dirty="0">
                <a:solidFill>
                  <a:srgbClr val="8282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Ingest 10-Ks into Neo4j and stand up a one-shot RAG baseline — then find its edges.</a:t>
            </a:r>
            <a:endParaRPr lang="en-US" sz="1500" dirty="0"/>
          </a:p>
        </p:txBody>
      </p:sp>
      <p:sp>
        <p:nvSpPr>
          <p:cNvPr id="29" name="Text 27"/>
          <p:cNvSpPr txBox="1"/>
          <p:nvPr/>
        </p:nvSpPr>
        <p:spPr>
          <a:xfrm>
            <a:off x="822960" y="64008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8282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Beyond GraphRAG</a:t>
            </a:r>
            <a:endParaRPr lang="en-US" sz="900" dirty="0"/>
          </a:p>
        </p:txBody>
      </p:sp>
      <p:sp>
        <p:nvSpPr>
          <p:cNvPr id="30" name="Text 28"/>
          <p:cNvSpPr txBox="1"/>
          <p:nvPr/>
        </p:nvSpPr>
        <p:spPr>
          <a:xfrm>
            <a:off x="5882335" y="64008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282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Intro → Module 01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603504"/>
            <a:ext cx="105457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300" dirty="0">
                <a:solidFill>
                  <a:srgbClr val="8282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MODULE 01 · RECAP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1371600"/>
            <a:ext cx="1054577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60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We have a working baseline.</a:t>
            </a:r>
            <a:endParaRPr lang="en-US" sz="3600" dirty="0"/>
          </a:p>
        </p:txBody>
      </p:sp>
      <p:sp>
        <p:nvSpPr>
          <p:cNvPr id="4" name="Text 2"/>
          <p:cNvSpPr txBox="1"/>
          <p:nvPr/>
        </p:nvSpPr>
        <p:spPr>
          <a:xfrm>
            <a:off x="822960" y="2331720"/>
            <a:ext cx="10545775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2000"/>
              </a:lnSpc>
              <a:spcAft>
                <a:spcPts val="1000"/>
              </a:spcAft>
              <a:buNone/>
            </a:pPr>
            <a:r>
              <a:rPr lang="en-US" sz="1650" dirty="0">
                <a:solidFill>
                  <a:srgbClr val="1A1A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  10-K filings ingested into a Company → Document → Chunk graph in Neo4j, embedded locally with bge-m3.</a:t>
            </a:r>
            <a:endParaRPr lang="en-US" sz="1650" dirty="0"/>
          </a:p>
          <a:p>
            <a:pPr marL="0" indent="0" algn="l">
              <a:lnSpc>
                <a:spcPct val="122000"/>
              </a:lnSpc>
              <a:buNone/>
            </a:pPr>
            <a:r>
              <a:rPr lang="en-US" sz="1650" dirty="0">
                <a:solidFill>
                  <a:srgbClr val="1A1A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  One-shot vector RAG answers easy lookups end to end.</a:t>
            </a:r>
            <a:endParaRPr lang="en-US" sz="165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3886200"/>
            <a:ext cx="10058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1550" i="1" dirty="0">
                <a:solidFill>
                  <a:srgbClr val="1A1A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Design choice — we modeled documents as a graph from day one. The baseline's store is the substrate we'll grow, not a throwaway vector index.</a:t>
            </a:r>
            <a:endParaRPr lang="en-US" sz="155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4892040"/>
            <a:ext cx="10058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1600" dirty="0">
                <a:solidFill>
                  <a:srgbClr val="8282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But flat similarity breaks on multi-hop and cross-document questions. Next: smarter access to the same data.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5943600"/>
            <a:ext cx="105457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i="1" dirty="0">
                <a:solidFill>
                  <a:srgbClr val="8282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RAG — retrieval-augmented generation.</a:t>
            </a:r>
            <a:endParaRPr lang="en-US" sz="1050" dirty="0"/>
          </a:p>
        </p:txBody>
      </p:sp>
      <p:sp>
        <p:nvSpPr>
          <p:cNvPr id="8" name="Text 6"/>
          <p:cNvSpPr txBox="1"/>
          <p:nvPr/>
        </p:nvSpPr>
        <p:spPr>
          <a:xfrm>
            <a:off x="822960" y="64008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8282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Beyond GraphRAG</a:t>
            </a:r>
            <a:endParaRPr lang="en-US" sz="900" dirty="0"/>
          </a:p>
        </p:txBody>
      </p:sp>
      <p:sp>
        <p:nvSpPr>
          <p:cNvPr id="9" name="Text 7"/>
          <p:cNvSpPr txBox="1"/>
          <p:nvPr/>
        </p:nvSpPr>
        <p:spPr>
          <a:xfrm>
            <a:off x="5882335" y="64008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282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Module 01 · Recap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603504"/>
            <a:ext cx="105457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300" dirty="0">
                <a:solidFill>
                  <a:srgbClr val="8282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WHERE WE ARE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1554480"/>
            <a:ext cx="1054577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00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Module 01 complete.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868680" y="3977640"/>
            <a:ext cx="10451592" cy="0"/>
          </a:xfrm>
          <a:prstGeom prst="line">
            <a:avLst/>
          </a:prstGeom>
          <a:noFill/>
          <a:ln w="12700">
            <a:solidFill>
              <a:srgbClr val="D3D3CE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5" name="Shape 3"/>
          <p:cNvSpPr/>
          <p:nvPr/>
        </p:nvSpPr>
        <p:spPr>
          <a:xfrm>
            <a:off x="868680" y="3977640"/>
            <a:ext cx="0" cy="0"/>
          </a:xfrm>
          <a:prstGeom prst="line">
            <a:avLst/>
          </a:prstGeom>
          <a:noFill/>
          <a:ln w="19050">
            <a:solidFill>
              <a:srgbClr val="1A1A18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6" name="Shape 4"/>
          <p:cNvSpPr/>
          <p:nvPr/>
        </p:nvSpPr>
        <p:spPr>
          <a:xfrm>
            <a:off x="749808" y="3858768"/>
            <a:ext cx="237744" cy="237744"/>
          </a:xfrm>
          <a:prstGeom prst="ellipse">
            <a:avLst/>
          </a:prstGeom>
          <a:solidFill>
            <a:srgbClr val="2E6E6A"/>
          </a:solidFill>
          <a:ln/>
        </p:spPr>
        <p:txBody>
          <a:bodyPr/>
          <a:lstStyle/>
          <a:p>
            <a:endParaRPr lang="en-IT"/>
          </a:p>
        </p:txBody>
      </p:sp>
      <p:sp>
        <p:nvSpPr>
          <p:cNvPr id="7" name="Text 5"/>
          <p:cNvSpPr txBox="1"/>
          <p:nvPr/>
        </p:nvSpPr>
        <p:spPr>
          <a:xfrm>
            <a:off x="91440" y="3465576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E6E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100" dirty="0"/>
          </a:p>
        </p:txBody>
      </p:sp>
      <p:sp>
        <p:nvSpPr>
          <p:cNvPr id="8" name="Text 6"/>
          <p:cNvSpPr txBox="1"/>
          <p:nvPr/>
        </p:nvSpPr>
        <p:spPr>
          <a:xfrm>
            <a:off x="45720" y="4160520"/>
            <a:ext cx="1645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2000"/>
              </a:lnSpc>
              <a:buNone/>
            </a:pPr>
            <a:r>
              <a:rPr lang="en-US" sz="1000" b="1" dirty="0">
                <a:solidFill>
                  <a:srgbClr val="1A1A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Baseline</a:t>
            </a:r>
            <a:endParaRPr lang="en-US" sz="1000" dirty="0"/>
          </a:p>
          <a:p>
            <a:pPr marL="0" indent="0" algn="ctr">
              <a:lnSpc>
                <a:spcPct val="102000"/>
              </a:lnSpc>
              <a:buNone/>
            </a:pPr>
            <a:r>
              <a:rPr lang="en-US" sz="1000" b="1" dirty="0">
                <a:solidFill>
                  <a:srgbClr val="1A1A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RAG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2528316" y="3895344"/>
            <a:ext cx="164592" cy="164592"/>
          </a:xfrm>
          <a:prstGeom prst="ellipse">
            <a:avLst/>
          </a:prstGeom>
          <a:solidFill>
            <a:srgbClr val="F4F4F2"/>
          </a:solidFill>
          <a:ln w="15875">
            <a:solidFill>
              <a:srgbClr val="82827B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10" name="Text 8"/>
          <p:cNvSpPr txBox="1"/>
          <p:nvPr/>
        </p:nvSpPr>
        <p:spPr>
          <a:xfrm>
            <a:off x="1833372" y="3154680"/>
            <a:ext cx="1554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kern="0" spc="200" dirty="0">
                <a:solidFill>
                  <a:srgbClr val="2E6E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UP NEXT</a:t>
            </a:r>
            <a:endParaRPr lang="en-US" sz="750" dirty="0"/>
          </a:p>
        </p:txBody>
      </p:sp>
      <p:sp>
        <p:nvSpPr>
          <p:cNvPr id="11" name="Text 9"/>
          <p:cNvSpPr txBox="1"/>
          <p:nvPr/>
        </p:nvSpPr>
        <p:spPr>
          <a:xfrm>
            <a:off x="1833372" y="3465576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A1A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1787652" y="4160520"/>
            <a:ext cx="1645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2000"/>
              </a:lnSpc>
              <a:buNone/>
            </a:pPr>
            <a:r>
              <a:rPr lang="en-US" sz="1000" dirty="0">
                <a:solidFill>
                  <a:srgbClr val="1A1A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Agentic</a:t>
            </a:r>
            <a:endParaRPr lang="en-US" sz="1000" dirty="0"/>
          </a:p>
          <a:p>
            <a:pPr marL="0" indent="0" algn="ctr">
              <a:lnSpc>
                <a:spcPct val="102000"/>
              </a:lnSpc>
              <a:buNone/>
            </a:pPr>
            <a:r>
              <a:rPr lang="en-US" sz="1000" dirty="0">
                <a:solidFill>
                  <a:srgbClr val="1A1A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retrieval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279392" y="3904488"/>
            <a:ext cx="146304" cy="146304"/>
          </a:xfrm>
          <a:prstGeom prst="ellipse">
            <a:avLst/>
          </a:prstGeom>
          <a:solidFill>
            <a:srgbClr val="F4F4F2"/>
          </a:solidFill>
          <a:ln w="12700">
            <a:solidFill>
              <a:srgbClr val="D3D3CE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14" name="Text 12"/>
          <p:cNvSpPr txBox="1"/>
          <p:nvPr/>
        </p:nvSpPr>
        <p:spPr>
          <a:xfrm>
            <a:off x="3575304" y="3465576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BBBB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100" dirty="0"/>
          </a:p>
        </p:txBody>
      </p:sp>
      <p:sp>
        <p:nvSpPr>
          <p:cNvPr id="15" name="Text 13"/>
          <p:cNvSpPr txBox="1"/>
          <p:nvPr/>
        </p:nvSpPr>
        <p:spPr>
          <a:xfrm>
            <a:off x="3529584" y="4160520"/>
            <a:ext cx="1645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2000"/>
              </a:lnSpc>
              <a:buNone/>
            </a:pPr>
            <a:r>
              <a:rPr lang="en-US" sz="1000" dirty="0">
                <a:solidFill>
                  <a:srgbClr val="8282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Structured</a:t>
            </a:r>
            <a:endParaRPr lang="en-US" sz="1000" dirty="0"/>
          </a:p>
          <a:p>
            <a:pPr marL="0" indent="0" algn="ctr">
              <a:lnSpc>
                <a:spcPct val="102000"/>
              </a:lnSpc>
              <a:buNone/>
            </a:pPr>
            <a:r>
              <a:rPr lang="en-US" sz="1000" dirty="0">
                <a:solidFill>
                  <a:srgbClr val="8282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enrichment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6021324" y="3904488"/>
            <a:ext cx="146304" cy="146304"/>
          </a:xfrm>
          <a:prstGeom prst="ellipse">
            <a:avLst/>
          </a:prstGeom>
          <a:solidFill>
            <a:srgbClr val="F4F4F2"/>
          </a:solidFill>
          <a:ln w="12700">
            <a:solidFill>
              <a:srgbClr val="D3D3CE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17" name="Text 15"/>
          <p:cNvSpPr txBox="1"/>
          <p:nvPr/>
        </p:nvSpPr>
        <p:spPr>
          <a:xfrm>
            <a:off x="5317236" y="3465576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BBBB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100" dirty="0"/>
          </a:p>
        </p:txBody>
      </p:sp>
      <p:sp>
        <p:nvSpPr>
          <p:cNvPr id="18" name="Text 16"/>
          <p:cNvSpPr txBox="1"/>
          <p:nvPr/>
        </p:nvSpPr>
        <p:spPr>
          <a:xfrm>
            <a:off x="5271516" y="4160520"/>
            <a:ext cx="1645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2000"/>
              </a:lnSpc>
              <a:buNone/>
            </a:pPr>
            <a:r>
              <a:rPr lang="en-US" sz="1000" dirty="0">
                <a:solidFill>
                  <a:srgbClr val="8282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LLM</a:t>
            </a:r>
            <a:endParaRPr lang="en-US" sz="1000" dirty="0"/>
          </a:p>
          <a:p>
            <a:pPr marL="0" indent="0" algn="ctr">
              <a:lnSpc>
                <a:spcPct val="102000"/>
              </a:lnSpc>
              <a:buNone/>
            </a:pPr>
            <a:r>
              <a:rPr lang="en-US" sz="1000" dirty="0">
                <a:solidFill>
                  <a:srgbClr val="8282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extraction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7763256" y="3904488"/>
            <a:ext cx="146304" cy="146304"/>
          </a:xfrm>
          <a:prstGeom prst="ellipse">
            <a:avLst/>
          </a:prstGeom>
          <a:solidFill>
            <a:srgbClr val="F4F4F2"/>
          </a:solidFill>
          <a:ln w="12700">
            <a:solidFill>
              <a:srgbClr val="D3D3CE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20" name="Text 18"/>
          <p:cNvSpPr txBox="1"/>
          <p:nvPr/>
        </p:nvSpPr>
        <p:spPr>
          <a:xfrm>
            <a:off x="7059168" y="3465576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BBBB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1100" dirty="0"/>
          </a:p>
        </p:txBody>
      </p:sp>
      <p:sp>
        <p:nvSpPr>
          <p:cNvPr id="21" name="Text 19"/>
          <p:cNvSpPr txBox="1"/>
          <p:nvPr/>
        </p:nvSpPr>
        <p:spPr>
          <a:xfrm>
            <a:off x="7013448" y="4160520"/>
            <a:ext cx="1645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2000"/>
              </a:lnSpc>
              <a:buNone/>
            </a:pPr>
            <a:r>
              <a:rPr lang="en-US" sz="1000" dirty="0">
                <a:solidFill>
                  <a:srgbClr val="8282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Similarity &amp;</a:t>
            </a:r>
            <a:endParaRPr lang="en-US" sz="1000" dirty="0"/>
          </a:p>
          <a:p>
            <a:pPr marL="0" indent="0" algn="ctr">
              <a:lnSpc>
                <a:spcPct val="102000"/>
              </a:lnSpc>
              <a:buNone/>
            </a:pPr>
            <a:r>
              <a:rPr lang="en-US" sz="1000" dirty="0">
                <a:solidFill>
                  <a:srgbClr val="8282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resolution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9505188" y="3904488"/>
            <a:ext cx="146304" cy="146304"/>
          </a:xfrm>
          <a:prstGeom prst="ellipse">
            <a:avLst/>
          </a:prstGeom>
          <a:solidFill>
            <a:srgbClr val="F4F4F2"/>
          </a:solidFill>
          <a:ln w="12700">
            <a:solidFill>
              <a:srgbClr val="D3D3CE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23" name="Text 21"/>
          <p:cNvSpPr txBox="1"/>
          <p:nvPr/>
        </p:nvSpPr>
        <p:spPr>
          <a:xfrm>
            <a:off x="8801100" y="3465576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BBBB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1100" dirty="0"/>
          </a:p>
        </p:txBody>
      </p:sp>
      <p:sp>
        <p:nvSpPr>
          <p:cNvPr id="24" name="Text 22"/>
          <p:cNvSpPr txBox="1"/>
          <p:nvPr/>
        </p:nvSpPr>
        <p:spPr>
          <a:xfrm>
            <a:off x="8755380" y="4160520"/>
            <a:ext cx="1645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2000"/>
              </a:lnSpc>
              <a:buNone/>
            </a:pPr>
            <a:r>
              <a:rPr lang="en-US" sz="1000" dirty="0">
                <a:solidFill>
                  <a:srgbClr val="8282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Text2Cypher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11247120" y="3904488"/>
            <a:ext cx="146304" cy="146304"/>
          </a:xfrm>
          <a:prstGeom prst="ellipse">
            <a:avLst/>
          </a:prstGeom>
          <a:solidFill>
            <a:srgbClr val="F4F4F2"/>
          </a:solidFill>
          <a:ln w="12700">
            <a:solidFill>
              <a:srgbClr val="D3D3CE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26" name="Text 24"/>
          <p:cNvSpPr txBox="1"/>
          <p:nvPr/>
        </p:nvSpPr>
        <p:spPr>
          <a:xfrm>
            <a:off x="10543032" y="3465576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BBBB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</a:t>
            </a:r>
            <a:endParaRPr lang="en-US" sz="1100" dirty="0"/>
          </a:p>
        </p:txBody>
      </p:sp>
      <p:sp>
        <p:nvSpPr>
          <p:cNvPr id="27" name="Text 25"/>
          <p:cNvSpPr txBox="1"/>
          <p:nvPr/>
        </p:nvSpPr>
        <p:spPr>
          <a:xfrm>
            <a:off x="10497312" y="4160520"/>
            <a:ext cx="1645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2000"/>
              </a:lnSpc>
              <a:buNone/>
            </a:pPr>
            <a:r>
              <a:rPr lang="en-US" sz="1000" dirty="0">
                <a:solidFill>
                  <a:srgbClr val="8282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Evaluation &amp;</a:t>
            </a:r>
            <a:endParaRPr lang="en-US" sz="1000" dirty="0"/>
          </a:p>
          <a:p>
            <a:pPr marL="0" indent="0" algn="ctr">
              <a:lnSpc>
                <a:spcPct val="102000"/>
              </a:lnSpc>
              <a:buNone/>
            </a:pPr>
            <a:r>
              <a:rPr lang="en-US" sz="1000" dirty="0">
                <a:solidFill>
                  <a:srgbClr val="8282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production</a:t>
            </a:r>
            <a:endParaRPr lang="en-US" sz="1000" dirty="0"/>
          </a:p>
        </p:txBody>
      </p:sp>
      <p:sp>
        <p:nvSpPr>
          <p:cNvPr id="28" name="Text 26"/>
          <p:cNvSpPr txBox="1"/>
          <p:nvPr/>
        </p:nvSpPr>
        <p:spPr>
          <a:xfrm>
            <a:off x="822960" y="5257800"/>
            <a:ext cx="10545775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1500" dirty="0">
                <a:solidFill>
                  <a:srgbClr val="8282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Up next — turn the one-shot pipeline into an agentic retrieval loop.</a:t>
            </a:r>
            <a:endParaRPr lang="en-US" sz="1500" dirty="0"/>
          </a:p>
        </p:txBody>
      </p:sp>
      <p:sp>
        <p:nvSpPr>
          <p:cNvPr id="29" name="Text 27"/>
          <p:cNvSpPr txBox="1"/>
          <p:nvPr/>
        </p:nvSpPr>
        <p:spPr>
          <a:xfrm>
            <a:off x="822960" y="64008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8282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Beyond GraphRAG</a:t>
            </a:r>
            <a:endParaRPr lang="en-US" sz="900" dirty="0"/>
          </a:p>
        </p:txBody>
      </p:sp>
      <p:sp>
        <p:nvSpPr>
          <p:cNvPr id="30" name="Text 28"/>
          <p:cNvSpPr txBox="1"/>
          <p:nvPr/>
        </p:nvSpPr>
        <p:spPr>
          <a:xfrm>
            <a:off x="5882335" y="64008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282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Module 01 · Recap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603504"/>
            <a:ext cx="105457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300" dirty="0">
                <a:solidFill>
                  <a:srgbClr val="8282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MODULE 02 · RECAP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1325880"/>
            <a:ext cx="1054577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60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pipeline is now an agent.</a:t>
            </a:r>
            <a:endParaRPr lang="en-US" sz="3600" dirty="0"/>
          </a:p>
        </p:txBody>
      </p:sp>
      <p:sp>
        <p:nvSpPr>
          <p:cNvPr id="4" name="Text 2"/>
          <p:cNvSpPr txBox="1"/>
          <p:nvPr/>
        </p:nvSpPr>
        <p:spPr>
          <a:xfrm>
            <a:off x="822960" y="2240280"/>
            <a:ext cx="10545775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2000"/>
              </a:lnSpc>
              <a:spcAft>
                <a:spcPts val="1000"/>
              </a:spcAft>
              <a:buNone/>
            </a:pPr>
            <a:r>
              <a:rPr lang="en-US" sz="1650" dirty="0">
                <a:solidFill>
                  <a:srgbClr val="1A1A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  One-shot retrieval replaced by a LangGraph agent with three tools: semantic search, full-text (Lucene) search, and document navigation.</a:t>
            </a:r>
            <a:endParaRPr lang="en-US" sz="1650" dirty="0"/>
          </a:p>
          <a:p>
            <a:pPr marL="0" indent="0" algn="l">
              <a:lnSpc>
                <a:spcPct val="122000"/>
              </a:lnSpc>
              <a:buNone/>
            </a:pPr>
            <a:r>
              <a:rPr lang="en-US" sz="1650" dirty="0">
                <a:solidFill>
                  <a:srgbClr val="1A1A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  Two grading steps — one scores retrieval and can retry, one scores the final answer and can retry or go back to retrieve.</a:t>
            </a:r>
            <a:endParaRPr lang="en-US" sz="165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3977640"/>
            <a:ext cx="10058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1550" i="1" dirty="0">
                <a:solidFill>
                  <a:srgbClr val="1A1A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Design choice — explicit grade-and-retry edges, not a plain ReAct loop. The agent evaluates its own retrieval and its own answer.</a:t>
            </a:r>
            <a:endParaRPr lang="en-US" sz="155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4983480"/>
            <a:ext cx="10058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1600" dirty="0">
                <a:solidFill>
                  <a:srgbClr val="8282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extensibility payoff, cashed in for the first time — but the loop is only as good as what it can reach. Time to grow the graph.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5943600"/>
            <a:ext cx="105457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i="1" dirty="0">
                <a:solidFill>
                  <a:srgbClr val="8282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LangGraph — a framework for building agent loops as explicit graphs of steps.</a:t>
            </a:r>
            <a:endParaRPr lang="en-US" sz="1050" dirty="0"/>
          </a:p>
        </p:txBody>
      </p:sp>
      <p:sp>
        <p:nvSpPr>
          <p:cNvPr id="8" name="Text 6"/>
          <p:cNvSpPr txBox="1"/>
          <p:nvPr/>
        </p:nvSpPr>
        <p:spPr>
          <a:xfrm>
            <a:off x="822960" y="64008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8282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Beyond GraphRAG</a:t>
            </a:r>
            <a:endParaRPr lang="en-US" sz="900" dirty="0"/>
          </a:p>
        </p:txBody>
      </p:sp>
      <p:sp>
        <p:nvSpPr>
          <p:cNvPr id="9" name="Text 7"/>
          <p:cNvSpPr txBox="1"/>
          <p:nvPr/>
        </p:nvSpPr>
        <p:spPr>
          <a:xfrm>
            <a:off x="5882335" y="64008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282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Module 02 · Recap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603504"/>
            <a:ext cx="105457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300" dirty="0">
                <a:solidFill>
                  <a:srgbClr val="8282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WHERE WE ARE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1554480"/>
            <a:ext cx="1054577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00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Module 02 complete.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868680" y="3977640"/>
            <a:ext cx="10451592" cy="0"/>
          </a:xfrm>
          <a:prstGeom prst="line">
            <a:avLst/>
          </a:prstGeom>
          <a:noFill/>
          <a:ln w="12700">
            <a:solidFill>
              <a:srgbClr val="D3D3CE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5" name="Shape 3"/>
          <p:cNvSpPr/>
          <p:nvPr/>
        </p:nvSpPr>
        <p:spPr>
          <a:xfrm>
            <a:off x="868680" y="3977640"/>
            <a:ext cx="1741932" cy="0"/>
          </a:xfrm>
          <a:prstGeom prst="line">
            <a:avLst/>
          </a:prstGeom>
          <a:noFill/>
          <a:ln w="19050">
            <a:solidFill>
              <a:srgbClr val="1A1A18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6" name="Shape 4"/>
          <p:cNvSpPr/>
          <p:nvPr/>
        </p:nvSpPr>
        <p:spPr>
          <a:xfrm>
            <a:off x="795528" y="3904488"/>
            <a:ext cx="146304" cy="146304"/>
          </a:xfrm>
          <a:prstGeom prst="ellipse">
            <a:avLst/>
          </a:prstGeom>
          <a:solidFill>
            <a:srgbClr val="1A1A18"/>
          </a:solidFill>
          <a:ln/>
        </p:spPr>
        <p:txBody>
          <a:bodyPr/>
          <a:lstStyle/>
          <a:p>
            <a:endParaRPr lang="en-IT"/>
          </a:p>
        </p:txBody>
      </p:sp>
      <p:sp>
        <p:nvSpPr>
          <p:cNvPr id="7" name="Text 5"/>
          <p:cNvSpPr txBox="1"/>
          <p:nvPr/>
        </p:nvSpPr>
        <p:spPr>
          <a:xfrm>
            <a:off x="91440" y="3465576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8282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100" dirty="0"/>
          </a:p>
        </p:txBody>
      </p:sp>
      <p:sp>
        <p:nvSpPr>
          <p:cNvPr id="8" name="Text 6"/>
          <p:cNvSpPr txBox="1"/>
          <p:nvPr/>
        </p:nvSpPr>
        <p:spPr>
          <a:xfrm>
            <a:off x="45720" y="4160520"/>
            <a:ext cx="1645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2000"/>
              </a:lnSpc>
              <a:buNone/>
            </a:pPr>
            <a:r>
              <a:rPr lang="en-US" sz="1000" dirty="0">
                <a:solidFill>
                  <a:srgbClr val="8282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Baseline</a:t>
            </a:r>
            <a:endParaRPr lang="en-US" sz="1000" dirty="0"/>
          </a:p>
          <a:p>
            <a:pPr marL="0" indent="0" algn="ctr">
              <a:lnSpc>
                <a:spcPct val="102000"/>
              </a:lnSpc>
              <a:buNone/>
            </a:pPr>
            <a:r>
              <a:rPr lang="en-US" sz="1000" dirty="0">
                <a:solidFill>
                  <a:srgbClr val="8282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RAG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2491740" y="3858768"/>
            <a:ext cx="237744" cy="237744"/>
          </a:xfrm>
          <a:prstGeom prst="ellipse">
            <a:avLst/>
          </a:prstGeom>
          <a:solidFill>
            <a:srgbClr val="2E6E6A"/>
          </a:solidFill>
          <a:ln/>
        </p:spPr>
        <p:txBody>
          <a:bodyPr/>
          <a:lstStyle/>
          <a:p>
            <a:endParaRPr lang="en-IT"/>
          </a:p>
        </p:txBody>
      </p:sp>
      <p:sp>
        <p:nvSpPr>
          <p:cNvPr id="10" name="Text 8"/>
          <p:cNvSpPr txBox="1"/>
          <p:nvPr/>
        </p:nvSpPr>
        <p:spPr>
          <a:xfrm>
            <a:off x="1833372" y="3465576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E6E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100" dirty="0"/>
          </a:p>
        </p:txBody>
      </p:sp>
      <p:sp>
        <p:nvSpPr>
          <p:cNvPr id="11" name="Text 9"/>
          <p:cNvSpPr txBox="1"/>
          <p:nvPr/>
        </p:nvSpPr>
        <p:spPr>
          <a:xfrm>
            <a:off x="1787652" y="4160520"/>
            <a:ext cx="1645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2000"/>
              </a:lnSpc>
              <a:buNone/>
            </a:pPr>
            <a:r>
              <a:rPr lang="en-US" sz="1000" b="1" dirty="0">
                <a:solidFill>
                  <a:srgbClr val="1A1A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Agentic</a:t>
            </a:r>
            <a:endParaRPr lang="en-US" sz="1000" dirty="0"/>
          </a:p>
          <a:p>
            <a:pPr marL="0" indent="0" algn="ctr">
              <a:lnSpc>
                <a:spcPct val="102000"/>
              </a:lnSpc>
              <a:buNone/>
            </a:pPr>
            <a:r>
              <a:rPr lang="en-US" sz="1000" b="1" dirty="0">
                <a:solidFill>
                  <a:srgbClr val="1A1A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retrieval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270248" y="3895344"/>
            <a:ext cx="164592" cy="164592"/>
          </a:xfrm>
          <a:prstGeom prst="ellipse">
            <a:avLst/>
          </a:prstGeom>
          <a:solidFill>
            <a:srgbClr val="F4F4F2"/>
          </a:solidFill>
          <a:ln w="15875">
            <a:solidFill>
              <a:srgbClr val="82827B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13" name="Text 11"/>
          <p:cNvSpPr txBox="1"/>
          <p:nvPr/>
        </p:nvSpPr>
        <p:spPr>
          <a:xfrm>
            <a:off x="3575304" y="3154680"/>
            <a:ext cx="1554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kern="0" spc="200" dirty="0">
                <a:solidFill>
                  <a:srgbClr val="2E6E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UP NEXT</a:t>
            </a:r>
            <a:endParaRPr lang="en-US" sz="750" dirty="0"/>
          </a:p>
        </p:txBody>
      </p:sp>
      <p:sp>
        <p:nvSpPr>
          <p:cNvPr id="14" name="Text 12"/>
          <p:cNvSpPr txBox="1"/>
          <p:nvPr/>
        </p:nvSpPr>
        <p:spPr>
          <a:xfrm>
            <a:off x="3575304" y="3465576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A1A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100" dirty="0"/>
          </a:p>
        </p:txBody>
      </p:sp>
      <p:sp>
        <p:nvSpPr>
          <p:cNvPr id="15" name="Text 13"/>
          <p:cNvSpPr txBox="1"/>
          <p:nvPr/>
        </p:nvSpPr>
        <p:spPr>
          <a:xfrm>
            <a:off x="3529584" y="4160520"/>
            <a:ext cx="1645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2000"/>
              </a:lnSpc>
              <a:buNone/>
            </a:pPr>
            <a:r>
              <a:rPr lang="en-US" sz="1000" dirty="0">
                <a:solidFill>
                  <a:srgbClr val="1A1A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Structured</a:t>
            </a:r>
            <a:endParaRPr lang="en-US" sz="1000" dirty="0"/>
          </a:p>
          <a:p>
            <a:pPr marL="0" indent="0" algn="ctr">
              <a:lnSpc>
                <a:spcPct val="102000"/>
              </a:lnSpc>
              <a:buNone/>
            </a:pPr>
            <a:r>
              <a:rPr lang="en-US" sz="1000" dirty="0">
                <a:solidFill>
                  <a:srgbClr val="1A1A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enrichment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6021324" y="3904488"/>
            <a:ext cx="146304" cy="146304"/>
          </a:xfrm>
          <a:prstGeom prst="ellipse">
            <a:avLst/>
          </a:prstGeom>
          <a:solidFill>
            <a:srgbClr val="F4F4F2"/>
          </a:solidFill>
          <a:ln w="12700">
            <a:solidFill>
              <a:srgbClr val="D3D3CE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17" name="Text 15"/>
          <p:cNvSpPr txBox="1"/>
          <p:nvPr/>
        </p:nvSpPr>
        <p:spPr>
          <a:xfrm>
            <a:off x="5317236" y="3465576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BBBB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100" dirty="0"/>
          </a:p>
        </p:txBody>
      </p:sp>
      <p:sp>
        <p:nvSpPr>
          <p:cNvPr id="18" name="Text 16"/>
          <p:cNvSpPr txBox="1"/>
          <p:nvPr/>
        </p:nvSpPr>
        <p:spPr>
          <a:xfrm>
            <a:off x="5271516" y="4160520"/>
            <a:ext cx="1645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2000"/>
              </a:lnSpc>
              <a:buNone/>
            </a:pPr>
            <a:r>
              <a:rPr lang="en-US" sz="1000" dirty="0">
                <a:solidFill>
                  <a:srgbClr val="8282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LLM</a:t>
            </a:r>
            <a:endParaRPr lang="en-US" sz="1000" dirty="0"/>
          </a:p>
          <a:p>
            <a:pPr marL="0" indent="0" algn="ctr">
              <a:lnSpc>
                <a:spcPct val="102000"/>
              </a:lnSpc>
              <a:buNone/>
            </a:pPr>
            <a:r>
              <a:rPr lang="en-US" sz="1000" dirty="0">
                <a:solidFill>
                  <a:srgbClr val="8282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extraction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7763256" y="3904488"/>
            <a:ext cx="146304" cy="146304"/>
          </a:xfrm>
          <a:prstGeom prst="ellipse">
            <a:avLst/>
          </a:prstGeom>
          <a:solidFill>
            <a:srgbClr val="F4F4F2"/>
          </a:solidFill>
          <a:ln w="12700">
            <a:solidFill>
              <a:srgbClr val="D3D3CE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20" name="Text 18"/>
          <p:cNvSpPr txBox="1"/>
          <p:nvPr/>
        </p:nvSpPr>
        <p:spPr>
          <a:xfrm>
            <a:off x="7059168" y="3465576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BBBB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1100" dirty="0"/>
          </a:p>
        </p:txBody>
      </p:sp>
      <p:sp>
        <p:nvSpPr>
          <p:cNvPr id="21" name="Text 19"/>
          <p:cNvSpPr txBox="1"/>
          <p:nvPr/>
        </p:nvSpPr>
        <p:spPr>
          <a:xfrm>
            <a:off x="7013448" y="4160520"/>
            <a:ext cx="1645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2000"/>
              </a:lnSpc>
              <a:buNone/>
            </a:pPr>
            <a:r>
              <a:rPr lang="en-US" sz="1000" dirty="0">
                <a:solidFill>
                  <a:srgbClr val="8282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Similarity &amp;</a:t>
            </a:r>
            <a:endParaRPr lang="en-US" sz="1000" dirty="0"/>
          </a:p>
          <a:p>
            <a:pPr marL="0" indent="0" algn="ctr">
              <a:lnSpc>
                <a:spcPct val="102000"/>
              </a:lnSpc>
              <a:buNone/>
            </a:pPr>
            <a:r>
              <a:rPr lang="en-US" sz="1000" dirty="0">
                <a:solidFill>
                  <a:srgbClr val="8282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resolution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9505188" y="3904488"/>
            <a:ext cx="146304" cy="146304"/>
          </a:xfrm>
          <a:prstGeom prst="ellipse">
            <a:avLst/>
          </a:prstGeom>
          <a:solidFill>
            <a:srgbClr val="F4F4F2"/>
          </a:solidFill>
          <a:ln w="12700">
            <a:solidFill>
              <a:srgbClr val="D3D3CE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23" name="Text 21"/>
          <p:cNvSpPr txBox="1"/>
          <p:nvPr/>
        </p:nvSpPr>
        <p:spPr>
          <a:xfrm>
            <a:off x="8801100" y="3465576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BBBB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1100" dirty="0"/>
          </a:p>
        </p:txBody>
      </p:sp>
      <p:sp>
        <p:nvSpPr>
          <p:cNvPr id="24" name="Text 22"/>
          <p:cNvSpPr txBox="1"/>
          <p:nvPr/>
        </p:nvSpPr>
        <p:spPr>
          <a:xfrm>
            <a:off x="8755380" y="4160520"/>
            <a:ext cx="1645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2000"/>
              </a:lnSpc>
              <a:buNone/>
            </a:pPr>
            <a:r>
              <a:rPr lang="en-US" sz="1000" dirty="0">
                <a:solidFill>
                  <a:srgbClr val="8282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Text2Cypher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11247120" y="3904488"/>
            <a:ext cx="146304" cy="146304"/>
          </a:xfrm>
          <a:prstGeom prst="ellipse">
            <a:avLst/>
          </a:prstGeom>
          <a:solidFill>
            <a:srgbClr val="F4F4F2"/>
          </a:solidFill>
          <a:ln w="12700">
            <a:solidFill>
              <a:srgbClr val="D3D3CE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26" name="Text 24"/>
          <p:cNvSpPr txBox="1"/>
          <p:nvPr/>
        </p:nvSpPr>
        <p:spPr>
          <a:xfrm>
            <a:off x="10543032" y="3465576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BBBB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</a:t>
            </a:r>
            <a:endParaRPr lang="en-US" sz="1100" dirty="0"/>
          </a:p>
        </p:txBody>
      </p:sp>
      <p:sp>
        <p:nvSpPr>
          <p:cNvPr id="27" name="Text 25"/>
          <p:cNvSpPr txBox="1"/>
          <p:nvPr/>
        </p:nvSpPr>
        <p:spPr>
          <a:xfrm>
            <a:off x="10497312" y="4160520"/>
            <a:ext cx="1645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2000"/>
              </a:lnSpc>
              <a:buNone/>
            </a:pPr>
            <a:r>
              <a:rPr lang="en-US" sz="1000" dirty="0">
                <a:solidFill>
                  <a:srgbClr val="8282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Evaluation &amp;</a:t>
            </a:r>
            <a:endParaRPr lang="en-US" sz="1000" dirty="0"/>
          </a:p>
          <a:p>
            <a:pPr marL="0" indent="0" algn="ctr">
              <a:lnSpc>
                <a:spcPct val="102000"/>
              </a:lnSpc>
              <a:buNone/>
            </a:pPr>
            <a:r>
              <a:rPr lang="en-US" sz="1000" dirty="0">
                <a:solidFill>
                  <a:srgbClr val="8282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production</a:t>
            </a:r>
            <a:endParaRPr lang="en-US" sz="1000" dirty="0"/>
          </a:p>
        </p:txBody>
      </p:sp>
      <p:sp>
        <p:nvSpPr>
          <p:cNvPr id="28" name="Text 26"/>
          <p:cNvSpPr txBox="1"/>
          <p:nvPr/>
        </p:nvSpPr>
        <p:spPr>
          <a:xfrm>
            <a:off x="822960" y="5257800"/>
            <a:ext cx="10545775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1500" dirty="0">
                <a:solidFill>
                  <a:srgbClr val="8282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Up next — enrich the graph with structured external data.</a:t>
            </a:r>
            <a:endParaRPr lang="en-US" sz="1500" dirty="0"/>
          </a:p>
        </p:txBody>
      </p:sp>
      <p:sp>
        <p:nvSpPr>
          <p:cNvPr id="29" name="Text 27"/>
          <p:cNvSpPr txBox="1"/>
          <p:nvPr/>
        </p:nvSpPr>
        <p:spPr>
          <a:xfrm>
            <a:off x="822960" y="64008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8282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Beyond GraphRAG</a:t>
            </a:r>
            <a:endParaRPr lang="en-US" sz="900" dirty="0"/>
          </a:p>
        </p:txBody>
      </p:sp>
      <p:sp>
        <p:nvSpPr>
          <p:cNvPr id="30" name="Text 28"/>
          <p:cNvSpPr txBox="1"/>
          <p:nvPr/>
        </p:nvSpPr>
        <p:spPr>
          <a:xfrm>
            <a:off x="5882335" y="64008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282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Module 02 · Recap</a:t>
            </a:r>
            <a:endParaRPr lang="en-US" sz="9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603504"/>
            <a:ext cx="105457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300" dirty="0">
                <a:solidFill>
                  <a:srgbClr val="8282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MODULE 03 · RECAP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1371600"/>
            <a:ext cx="1054577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40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graph now holds more than text.</a:t>
            </a:r>
            <a:endParaRPr lang="en-US" sz="3400" dirty="0"/>
          </a:p>
        </p:txBody>
      </p:sp>
      <p:sp>
        <p:nvSpPr>
          <p:cNvPr id="4" name="Text 2"/>
          <p:cNvSpPr txBox="1"/>
          <p:nvPr/>
        </p:nvSpPr>
        <p:spPr>
          <a:xfrm>
            <a:off x="822960" y="2377440"/>
            <a:ext cx="10545775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2000"/>
              </a:lnSpc>
              <a:spcAft>
                <a:spcPts val="1000"/>
              </a:spcAft>
              <a:buNone/>
            </a:pPr>
            <a:r>
              <a:rPr lang="en-US" sz="1650" dirty="0">
                <a:solidFill>
                  <a:srgbClr val="1A1A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  New sources: Wikidata (executives, board, company profile — no API key), Sharadar (fundamentals, corporate actions), and NYT news.</a:t>
            </a:r>
            <a:endParaRPr lang="en-US" sz="1650" dirty="0"/>
          </a:p>
          <a:p>
            <a:pPr marL="0" indent="0" algn="l">
              <a:lnSpc>
                <a:spcPct val="122000"/>
              </a:lnSpc>
              <a:buNone/>
            </a:pPr>
            <a:r>
              <a:rPr lang="en-US" sz="1650" dirty="0">
                <a:solidFill>
                  <a:srgbClr val="1A1A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  New node types — Person, Event, Article, FinancialPeriod — grown into a live graph, incrementally and tested at each step.</a:t>
            </a:r>
            <a:endParaRPr lang="en-US" sz="165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4114800"/>
            <a:ext cx="10058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1600" dirty="0">
                <a:solidFill>
                  <a:srgbClr val="8282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addition was checked to see it improved answers rather than just adding noise.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5943600"/>
            <a:ext cx="105457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i="1" dirty="0">
                <a:solidFill>
                  <a:srgbClr val="8282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NYT — The New York Times.</a:t>
            </a:r>
            <a:endParaRPr lang="en-US" sz="105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64008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8282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Beyond GraphRAG</a:t>
            </a:r>
            <a:endParaRPr lang="en-US" sz="900" dirty="0"/>
          </a:p>
        </p:txBody>
      </p:sp>
      <p:sp>
        <p:nvSpPr>
          <p:cNvPr id="8" name="Text 6"/>
          <p:cNvSpPr txBox="1"/>
          <p:nvPr/>
        </p:nvSpPr>
        <p:spPr>
          <a:xfrm>
            <a:off x="5882335" y="64008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282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Module 03 · Recap</a:t>
            </a:r>
            <a:endParaRPr lang="en-US" sz="9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603504"/>
            <a:ext cx="105457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300" dirty="0">
                <a:solidFill>
                  <a:srgbClr val="8282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 HONEST CASE STUDY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1371600"/>
            <a:ext cx="100584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20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When two sources disagree, keep the disagreement.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822960" y="2880360"/>
            <a:ext cx="66751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1650" dirty="0">
                <a:solidFill>
                  <a:srgbClr val="1A1A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Wikidata and Sharadar sometimes classify the same company's industry or sector differently. We don't silently pick a winner — the conflict is recorded as data the agent can reason over.</a:t>
            </a:r>
            <a:endParaRPr lang="en-US" sz="1650" dirty="0"/>
          </a:p>
        </p:txBody>
      </p:sp>
      <p:sp>
        <p:nvSpPr>
          <p:cNvPr id="5" name="Shape 3"/>
          <p:cNvSpPr/>
          <p:nvPr/>
        </p:nvSpPr>
        <p:spPr>
          <a:xfrm>
            <a:off x="8138160" y="3566160"/>
            <a:ext cx="146304" cy="146304"/>
          </a:xfrm>
          <a:prstGeom prst="ellipse">
            <a:avLst/>
          </a:prstGeom>
          <a:solidFill>
            <a:srgbClr val="1A1A18"/>
          </a:solidFill>
          <a:ln/>
        </p:spPr>
        <p:txBody>
          <a:bodyPr/>
          <a:lstStyle/>
          <a:p>
            <a:endParaRPr lang="en-IT"/>
          </a:p>
        </p:txBody>
      </p:sp>
      <p:sp>
        <p:nvSpPr>
          <p:cNvPr id="6" name="Text 4"/>
          <p:cNvSpPr txBox="1"/>
          <p:nvPr/>
        </p:nvSpPr>
        <p:spPr>
          <a:xfrm>
            <a:off x="6675120" y="3474720"/>
            <a:ext cx="1371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50" b="1" dirty="0">
                <a:solidFill>
                  <a:srgbClr val="1A1A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Company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8284464" y="3639312"/>
            <a:ext cx="1554480" cy="502920"/>
          </a:xfrm>
          <a:prstGeom prst="line">
            <a:avLst/>
          </a:prstGeom>
          <a:noFill/>
          <a:ln w="12700">
            <a:solidFill>
              <a:srgbClr val="D3D3CE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9" name="Text 7"/>
          <p:cNvSpPr txBox="1"/>
          <p:nvPr/>
        </p:nvSpPr>
        <p:spPr>
          <a:xfrm>
            <a:off x="9875520" y="2926080"/>
            <a:ext cx="2377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dirty="0">
                <a:solidFill>
                  <a:srgbClr val="8282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Wikidata: </a:t>
            </a:r>
            <a:r>
              <a:rPr lang="en-US" sz="1250" b="1" dirty="0">
                <a:solidFill>
                  <a:srgbClr val="1A1A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Sector A</a:t>
            </a:r>
            <a:endParaRPr lang="en-US" sz="1250" dirty="0"/>
          </a:p>
        </p:txBody>
      </p:sp>
      <p:sp>
        <p:nvSpPr>
          <p:cNvPr id="10" name="Text 8"/>
          <p:cNvSpPr txBox="1"/>
          <p:nvPr/>
        </p:nvSpPr>
        <p:spPr>
          <a:xfrm>
            <a:off x="9875520" y="3977640"/>
            <a:ext cx="2377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dirty="0">
                <a:solidFill>
                  <a:srgbClr val="8282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Sharadar: </a:t>
            </a:r>
            <a:r>
              <a:rPr lang="en-US" sz="1250" b="1" dirty="0">
                <a:solidFill>
                  <a:srgbClr val="1A1A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Sector B</a:t>
            </a:r>
            <a:endParaRPr lang="en-US" sz="1250" dirty="0"/>
          </a:p>
        </p:txBody>
      </p:sp>
      <p:sp>
        <p:nvSpPr>
          <p:cNvPr id="11" name="Text 9"/>
          <p:cNvSpPr txBox="1"/>
          <p:nvPr/>
        </p:nvSpPr>
        <p:spPr>
          <a:xfrm>
            <a:off x="9875520" y="3456432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i="1" dirty="0">
                <a:solidFill>
                  <a:srgbClr val="2E6E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both kept</a:t>
            </a:r>
            <a:endParaRPr lang="en-US" sz="1050" dirty="0"/>
          </a:p>
        </p:txBody>
      </p:sp>
      <p:sp>
        <p:nvSpPr>
          <p:cNvPr id="12" name="Text 10"/>
          <p:cNvSpPr txBox="1"/>
          <p:nvPr/>
        </p:nvSpPr>
        <p:spPr>
          <a:xfrm>
            <a:off x="822960" y="64008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8282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Beyond GraphRAG</a:t>
            </a:r>
            <a:endParaRPr lang="en-US" sz="900" dirty="0"/>
          </a:p>
        </p:txBody>
      </p:sp>
      <p:sp>
        <p:nvSpPr>
          <p:cNvPr id="13" name="Text 11"/>
          <p:cNvSpPr txBox="1"/>
          <p:nvPr/>
        </p:nvSpPr>
        <p:spPr>
          <a:xfrm>
            <a:off x="5882335" y="64008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282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Module 03 · Recap</a:t>
            </a:r>
            <a:endParaRPr lang="en-US" sz="900" dirty="0"/>
          </a:p>
        </p:txBody>
      </p:sp>
      <p:sp>
        <p:nvSpPr>
          <p:cNvPr id="14" name="Shape 6">
            <a:extLst>
              <a:ext uri="{FF2B5EF4-FFF2-40B4-BE49-F238E27FC236}">
                <a16:creationId xmlns:a16="http://schemas.microsoft.com/office/drawing/2014/main" id="{C1051480-EF91-79B8-F0FF-BC29C3C6896D}"/>
              </a:ext>
            </a:extLst>
          </p:cNvPr>
          <p:cNvSpPr/>
          <p:nvPr/>
        </p:nvSpPr>
        <p:spPr>
          <a:xfrm flipV="1">
            <a:off x="8284464" y="3136392"/>
            <a:ext cx="1591056" cy="502919"/>
          </a:xfrm>
          <a:prstGeom prst="line">
            <a:avLst/>
          </a:prstGeom>
          <a:noFill/>
          <a:ln w="12700">
            <a:solidFill>
              <a:srgbClr val="D3D3CE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603504"/>
            <a:ext cx="105457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300" dirty="0">
                <a:solidFill>
                  <a:srgbClr val="8282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WHERE WE ARE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1554480"/>
            <a:ext cx="1054577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00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Module 03 complete.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868680" y="3977640"/>
            <a:ext cx="10451592" cy="0"/>
          </a:xfrm>
          <a:prstGeom prst="line">
            <a:avLst/>
          </a:prstGeom>
          <a:noFill/>
          <a:ln w="12700">
            <a:solidFill>
              <a:srgbClr val="D3D3CE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5" name="Shape 3"/>
          <p:cNvSpPr/>
          <p:nvPr/>
        </p:nvSpPr>
        <p:spPr>
          <a:xfrm>
            <a:off x="868680" y="3977640"/>
            <a:ext cx="3483864" cy="0"/>
          </a:xfrm>
          <a:prstGeom prst="line">
            <a:avLst/>
          </a:prstGeom>
          <a:noFill/>
          <a:ln w="19050">
            <a:solidFill>
              <a:srgbClr val="1A1A18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6" name="Shape 4"/>
          <p:cNvSpPr/>
          <p:nvPr/>
        </p:nvSpPr>
        <p:spPr>
          <a:xfrm>
            <a:off x="795528" y="3904488"/>
            <a:ext cx="146304" cy="146304"/>
          </a:xfrm>
          <a:prstGeom prst="ellipse">
            <a:avLst/>
          </a:prstGeom>
          <a:solidFill>
            <a:srgbClr val="1A1A18"/>
          </a:solidFill>
          <a:ln/>
        </p:spPr>
        <p:txBody>
          <a:bodyPr/>
          <a:lstStyle/>
          <a:p>
            <a:endParaRPr lang="en-IT"/>
          </a:p>
        </p:txBody>
      </p:sp>
      <p:sp>
        <p:nvSpPr>
          <p:cNvPr id="7" name="Text 5"/>
          <p:cNvSpPr txBox="1"/>
          <p:nvPr/>
        </p:nvSpPr>
        <p:spPr>
          <a:xfrm>
            <a:off x="91440" y="3465576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8282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100" dirty="0"/>
          </a:p>
        </p:txBody>
      </p:sp>
      <p:sp>
        <p:nvSpPr>
          <p:cNvPr id="8" name="Text 6"/>
          <p:cNvSpPr txBox="1"/>
          <p:nvPr/>
        </p:nvSpPr>
        <p:spPr>
          <a:xfrm>
            <a:off x="45720" y="4160520"/>
            <a:ext cx="1645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2000"/>
              </a:lnSpc>
              <a:buNone/>
            </a:pPr>
            <a:r>
              <a:rPr lang="en-US" sz="1000" dirty="0">
                <a:solidFill>
                  <a:srgbClr val="8282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Baseline</a:t>
            </a:r>
            <a:endParaRPr lang="en-US" sz="1000" dirty="0"/>
          </a:p>
          <a:p>
            <a:pPr marL="0" indent="0" algn="ctr">
              <a:lnSpc>
                <a:spcPct val="102000"/>
              </a:lnSpc>
              <a:buNone/>
            </a:pPr>
            <a:r>
              <a:rPr lang="en-US" sz="1000" dirty="0">
                <a:solidFill>
                  <a:srgbClr val="8282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RAG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2537460" y="3904488"/>
            <a:ext cx="146304" cy="146304"/>
          </a:xfrm>
          <a:prstGeom prst="ellipse">
            <a:avLst/>
          </a:prstGeom>
          <a:solidFill>
            <a:srgbClr val="1A1A18"/>
          </a:solidFill>
          <a:ln/>
        </p:spPr>
        <p:txBody>
          <a:bodyPr/>
          <a:lstStyle/>
          <a:p>
            <a:endParaRPr lang="en-IT"/>
          </a:p>
        </p:txBody>
      </p:sp>
      <p:sp>
        <p:nvSpPr>
          <p:cNvPr id="10" name="Text 8"/>
          <p:cNvSpPr txBox="1"/>
          <p:nvPr/>
        </p:nvSpPr>
        <p:spPr>
          <a:xfrm>
            <a:off x="1833372" y="3465576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8282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100" dirty="0"/>
          </a:p>
        </p:txBody>
      </p:sp>
      <p:sp>
        <p:nvSpPr>
          <p:cNvPr id="11" name="Text 9"/>
          <p:cNvSpPr txBox="1"/>
          <p:nvPr/>
        </p:nvSpPr>
        <p:spPr>
          <a:xfrm>
            <a:off x="1787652" y="4160520"/>
            <a:ext cx="1645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2000"/>
              </a:lnSpc>
              <a:buNone/>
            </a:pPr>
            <a:r>
              <a:rPr lang="en-US" sz="1000" dirty="0">
                <a:solidFill>
                  <a:srgbClr val="8282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Agentic</a:t>
            </a:r>
            <a:endParaRPr lang="en-US" sz="1000" dirty="0"/>
          </a:p>
          <a:p>
            <a:pPr marL="0" indent="0" algn="ctr">
              <a:lnSpc>
                <a:spcPct val="102000"/>
              </a:lnSpc>
              <a:buNone/>
            </a:pPr>
            <a:r>
              <a:rPr lang="en-US" sz="1000" dirty="0">
                <a:solidFill>
                  <a:srgbClr val="8282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retrieval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233672" y="3858768"/>
            <a:ext cx="237744" cy="237744"/>
          </a:xfrm>
          <a:prstGeom prst="ellipse">
            <a:avLst/>
          </a:prstGeom>
          <a:solidFill>
            <a:srgbClr val="2E6E6A"/>
          </a:solidFill>
          <a:ln/>
        </p:spPr>
        <p:txBody>
          <a:bodyPr/>
          <a:lstStyle/>
          <a:p>
            <a:endParaRPr lang="en-IT"/>
          </a:p>
        </p:txBody>
      </p:sp>
      <p:sp>
        <p:nvSpPr>
          <p:cNvPr id="13" name="Text 11"/>
          <p:cNvSpPr txBox="1"/>
          <p:nvPr/>
        </p:nvSpPr>
        <p:spPr>
          <a:xfrm>
            <a:off x="3575304" y="3465576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E6E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100" dirty="0"/>
          </a:p>
        </p:txBody>
      </p:sp>
      <p:sp>
        <p:nvSpPr>
          <p:cNvPr id="14" name="Text 12"/>
          <p:cNvSpPr txBox="1"/>
          <p:nvPr/>
        </p:nvSpPr>
        <p:spPr>
          <a:xfrm>
            <a:off x="3529584" y="4160520"/>
            <a:ext cx="1645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2000"/>
              </a:lnSpc>
              <a:buNone/>
            </a:pPr>
            <a:r>
              <a:rPr lang="en-US" sz="1000" b="1" dirty="0">
                <a:solidFill>
                  <a:srgbClr val="1A1A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Structured</a:t>
            </a:r>
            <a:endParaRPr lang="en-US" sz="1000" dirty="0"/>
          </a:p>
          <a:p>
            <a:pPr marL="0" indent="0" algn="ctr">
              <a:lnSpc>
                <a:spcPct val="102000"/>
              </a:lnSpc>
              <a:buNone/>
            </a:pPr>
            <a:r>
              <a:rPr lang="en-US" sz="1000" b="1" dirty="0">
                <a:solidFill>
                  <a:srgbClr val="1A1A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enrichment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6012180" y="3895344"/>
            <a:ext cx="164592" cy="164592"/>
          </a:xfrm>
          <a:prstGeom prst="ellipse">
            <a:avLst/>
          </a:prstGeom>
          <a:solidFill>
            <a:srgbClr val="F4F4F2"/>
          </a:solidFill>
          <a:ln w="15875">
            <a:solidFill>
              <a:srgbClr val="82827B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16" name="Text 14"/>
          <p:cNvSpPr txBox="1"/>
          <p:nvPr/>
        </p:nvSpPr>
        <p:spPr>
          <a:xfrm>
            <a:off x="5317236" y="3154680"/>
            <a:ext cx="1554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kern="0" spc="200" dirty="0">
                <a:solidFill>
                  <a:srgbClr val="2E6E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UP NEXT</a:t>
            </a:r>
            <a:endParaRPr lang="en-US" sz="750" dirty="0"/>
          </a:p>
        </p:txBody>
      </p:sp>
      <p:sp>
        <p:nvSpPr>
          <p:cNvPr id="17" name="Text 15"/>
          <p:cNvSpPr txBox="1"/>
          <p:nvPr/>
        </p:nvSpPr>
        <p:spPr>
          <a:xfrm>
            <a:off x="5317236" y="3465576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A1A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100" dirty="0"/>
          </a:p>
        </p:txBody>
      </p:sp>
      <p:sp>
        <p:nvSpPr>
          <p:cNvPr id="18" name="Text 16"/>
          <p:cNvSpPr txBox="1"/>
          <p:nvPr/>
        </p:nvSpPr>
        <p:spPr>
          <a:xfrm>
            <a:off x="5271516" y="4160520"/>
            <a:ext cx="1645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2000"/>
              </a:lnSpc>
              <a:buNone/>
            </a:pPr>
            <a:r>
              <a:rPr lang="en-US" sz="1000" dirty="0">
                <a:solidFill>
                  <a:srgbClr val="1A1A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LLM</a:t>
            </a:r>
            <a:endParaRPr lang="en-US" sz="1000" dirty="0"/>
          </a:p>
          <a:p>
            <a:pPr marL="0" indent="0" algn="ctr">
              <a:lnSpc>
                <a:spcPct val="102000"/>
              </a:lnSpc>
              <a:buNone/>
            </a:pPr>
            <a:r>
              <a:rPr lang="en-US" sz="1000" dirty="0">
                <a:solidFill>
                  <a:srgbClr val="1A1A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extraction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7763256" y="3904488"/>
            <a:ext cx="146304" cy="146304"/>
          </a:xfrm>
          <a:prstGeom prst="ellipse">
            <a:avLst/>
          </a:prstGeom>
          <a:solidFill>
            <a:srgbClr val="F4F4F2"/>
          </a:solidFill>
          <a:ln w="12700">
            <a:solidFill>
              <a:srgbClr val="D3D3CE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20" name="Text 18"/>
          <p:cNvSpPr txBox="1"/>
          <p:nvPr/>
        </p:nvSpPr>
        <p:spPr>
          <a:xfrm>
            <a:off x="7059168" y="3465576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BBBB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1100" dirty="0"/>
          </a:p>
        </p:txBody>
      </p:sp>
      <p:sp>
        <p:nvSpPr>
          <p:cNvPr id="21" name="Text 19"/>
          <p:cNvSpPr txBox="1"/>
          <p:nvPr/>
        </p:nvSpPr>
        <p:spPr>
          <a:xfrm>
            <a:off x="7013448" y="4160520"/>
            <a:ext cx="1645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2000"/>
              </a:lnSpc>
              <a:buNone/>
            </a:pPr>
            <a:r>
              <a:rPr lang="en-US" sz="1000" dirty="0">
                <a:solidFill>
                  <a:srgbClr val="8282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Similarity &amp;</a:t>
            </a:r>
            <a:endParaRPr lang="en-US" sz="1000" dirty="0"/>
          </a:p>
          <a:p>
            <a:pPr marL="0" indent="0" algn="ctr">
              <a:lnSpc>
                <a:spcPct val="102000"/>
              </a:lnSpc>
              <a:buNone/>
            </a:pPr>
            <a:r>
              <a:rPr lang="en-US" sz="1000" dirty="0">
                <a:solidFill>
                  <a:srgbClr val="8282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resolution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9505188" y="3904488"/>
            <a:ext cx="146304" cy="146304"/>
          </a:xfrm>
          <a:prstGeom prst="ellipse">
            <a:avLst/>
          </a:prstGeom>
          <a:solidFill>
            <a:srgbClr val="F4F4F2"/>
          </a:solidFill>
          <a:ln w="12700">
            <a:solidFill>
              <a:srgbClr val="D3D3CE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23" name="Text 21"/>
          <p:cNvSpPr txBox="1"/>
          <p:nvPr/>
        </p:nvSpPr>
        <p:spPr>
          <a:xfrm>
            <a:off x="8801100" y="3465576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BBBB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1100" dirty="0"/>
          </a:p>
        </p:txBody>
      </p:sp>
      <p:sp>
        <p:nvSpPr>
          <p:cNvPr id="24" name="Text 22"/>
          <p:cNvSpPr txBox="1"/>
          <p:nvPr/>
        </p:nvSpPr>
        <p:spPr>
          <a:xfrm>
            <a:off x="8755380" y="4160520"/>
            <a:ext cx="1645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2000"/>
              </a:lnSpc>
              <a:buNone/>
            </a:pPr>
            <a:r>
              <a:rPr lang="en-US" sz="1000" dirty="0">
                <a:solidFill>
                  <a:srgbClr val="8282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Text2Cypher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11247120" y="3904488"/>
            <a:ext cx="146304" cy="146304"/>
          </a:xfrm>
          <a:prstGeom prst="ellipse">
            <a:avLst/>
          </a:prstGeom>
          <a:solidFill>
            <a:srgbClr val="F4F4F2"/>
          </a:solidFill>
          <a:ln w="12700">
            <a:solidFill>
              <a:srgbClr val="D3D3CE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26" name="Text 24"/>
          <p:cNvSpPr txBox="1"/>
          <p:nvPr/>
        </p:nvSpPr>
        <p:spPr>
          <a:xfrm>
            <a:off x="10543032" y="3465576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BBBB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</a:t>
            </a:r>
            <a:endParaRPr lang="en-US" sz="1100" dirty="0"/>
          </a:p>
        </p:txBody>
      </p:sp>
      <p:sp>
        <p:nvSpPr>
          <p:cNvPr id="27" name="Text 25"/>
          <p:cNvSpPr txBox="1"/>
          <p:nvPr/>
        </p:nvSpPr>
        <p:spPr>
          <a:xfrm>
            <a:off x="10497312" y="4160520"/>
            <a:ext cx="1645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2000"/>
              </a:lnSpc>
              <a:buNone/>
            </a:pPr>
            <a:r>
              <a:rPr lang="en-US" sz="1000" dirty="0">
                <a:solidFill>
                  <a:srgbClr val="8282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Evaluation &amp;</a:t>
            </a:r>
            <a:endParaRPr lang="en-US" sz="1000" dirty="0"/>
          </a:p>
          <a:p>
            <a:pPr marL="0" indent="0" algn="ctr">
              <a:lnSpc>
                <a:spcPct val="102000"/>
              </a:lnSpc>
              <a:buNone/>
            </a:pPr>
            <a:r>
              <a:rPr lang="en-US" sz="1000" dirty="0">
                <a:solidFill>
                  <a:srgbClr val="8282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production</a:t>
            </a:r>
            <a:endParaRPr lang="en-US" sz="1000" dirty="0"/>
          </a:p>
        </p:txBody>
      </p:sp>
      <p:sp>
        <p:nvSpPr>
          <p:cNvPr id="28" name="Text 26"/>
          <p:cNvSpPr txBox="1"/>
          <p:nvPr/>
        </p:nvSpPr>
        <p:spPr>
          <a:xfrm>
            <a:off x="822960" y="5257800"/>
            <a:ext cx="10545775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1500" dirty="0">
                <a:solidFill>
                  <a:srgbClr val="8282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Up next — extract entities and relationships from the text itself.</a:t>
            </a:r>
            <a:endParaRPr lang="en-US" sz="1500" dirty="0"/>
          </a:p>
        </p:txBody>
      </p:sp>
      <p:sp>
        <p:nvSpPr>
          <p:cNvPr id="29" name="Text 27"/>
          <p:cNvSpPr txBox="1"/>
          <p:nvPr/>
        </p:nvSpPr>
        <p:spPr>
          <a:xfrm>
            <a:off x="822960" y="64008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8282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Beyond GraphRAG</a:t>
            </a:r>
            <a:endParaRPr lang="en-US" sz="900" dirty="0"/>
          </a:p>
        </p:txBody>
      </p:sp>
      <p:sp>
        <p:nvSpPr>
          <p:cNvPr id="30" name="Text 28"/>
          <p:cNvSpPr txBox="1"/>
          <p:nvPr/>
        </p:nvSpPr>
        <p:spPr>
          <a:xfrm>
            <a:off x="5882335" y="64008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282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Module 03 · Recap</a:t>
            </a:r>
            <a:endParaRPr lang="en-US" sz="9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603504"/>
            <a:ext cx="105457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300" dirty="0">
                <a:solidFill>
                  <a:srgbClr val="8282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MODULE 04 · RECAP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1280160"/>
            <a:ext cx="1054577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40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We mined structure out of the text.</a:t>
            </a:r>
            <a:endParaRPr lang="en-US" sz="3400" dirty="0"/>
          </a:p>
        </p:txBody>
      </p:sp>
      <p:sp>
        <p:nvSpPr>
          <p:cNvPr id="4" name="Text 2"/>
          <p:cNvSpPr txBox="1"/>
          <p:nvPr/>
        </p:nvSpPr>
        <p:spPr>
          <a:xfrm>
            <a:off x="822960" y="228600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1A1A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Naive prompt</a:t>
            </a:r>
            <a:r>
              <a:rPr lang="en-US" sz="1600" dirty="0">
                <a:solidFill>
                  <a:srgbClr val="8282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→  noisy output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278892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1A1A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Single-shot “rigorous” prompt</a:t>
            </a:r>
            <a:r>
              <a:rPr lang="en-US" sz="1600" dirty="0">
                <a:solidFill>
                  <a:srgbClr val="8282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(role, scope, predefined types)  →  better, still flawed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3291840"/>
            <a:ext cx="10789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2E6E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Two-phase pipeline</a:t>
            </a:r>
            <a:r>
              <a:rPr lang="en-US" sz="1600" dirty="0">
                <a:solidFill>
                  <a:srgbClr val="1A1A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entities  →  a reflection pass  →  relationships  →  what ships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4160520"/>
            <a:ext cx="10058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1550" i="1" dirty="0">
                <a:solidFill>
                  <a:srgbClr val="1A1A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Design choice — extracted entities collapse into one generic label, not dynamic per-type labels, to avoid collisions before entity resolution exists.</a:t>
            </a:r>
            <a:endParaRPr lang="en-US" sz="1550" dirty="0"/>
          </a:p>
        </p:txBody>
      </p:sp>
      <p:sp>
        <p:nvSpPr>
          <p:cNvPr id="8" name="Text 6"/>
          <p:cNvSpPr txBox="1"/>
          <p:nvPr/>
        </p:nvSpPr>
        <p:spPr>
          <a:xfrm>
            <a:off x="822960" y="5166360"/>
            <a:ext cx="10058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1550" dirty="0">
                <a:solidFill>
                  <a:srgbClr val="8282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Real failure modes handled along the way: inconsistent outputs and hallucinated links.</a:t>
            </a:r>
            <a:endParaRPr lang="en-US" sz="1550" dirty="0"/>
          </a:p>
        </p:txBody>
      </p:sp>
      <p:sp>
        <p:nvSpPr>
          <p:cNvPr id="9" name="Text 7"/>
          <p:cNvSpPr txBox="1"/>
          <p:nvPr/>
        </p:nvSpPr>
        <p:spPr>
          <a:xfrm>
            <a:off x="822960" y="5943600"/>
            <a:ext cx="105457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i="1" dirty="0">
                <a:solidFill>
                  <a:srgbClr val="8282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LLM — large language model.</a:t>
            </a:r>
            <a:endParaRPr lang="en-US" sz="1050" dirty="0"/>
          </a:p>
        </p:txBody>
      </p:sp>
      <p:sp>
        <p:nvSpPr>
          <p:cNvPr id="10" name="Text 8"/>
          <p:cNvSpPr txBox="1"/>
          <p:nvPr/>
        </p:nvSpPr>
        <p:spPr>
          <a:xfrm>
            <a:off x="822960" y="64008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8282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Beyond GraphRAG</a:t>
            </a:r>
            <a:endParaRPr lang="en-US" sz="900" dirty="0"/>
          </a:p>
        </p:txBody>
      </p:sp>
      <p:sp>
        <p:nvSpPr>
          <p:cNvPr id="11" name="Text 9"/>
          <p:cNvSpPr txBox="1"/>
          <p:nvPr/>
        </p:nvSpPr>
        <p:spPr>
          <a:xfrm>
            <a:off x="5882335" y="64008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282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Module 04 · Recap</a:t>
            </a:r>
            <a:endParaRPr lang="en-US" sz="9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603504"/>
            <a:ext cx="105457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300" dirty="0">
                <a:solidFill>
                  <a:srgbClr val="8282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IT MATTERS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1280160"/>
            <a:ext cx="1054577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40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Structure the agent can count on.</a:t>
            </a:r>
            <a:endParaRPr lang="en-US" sz="3400" dirty="0"/>
          </a:p>
        </p:txBody>
      </p:sp>
      <p:sp>
        <p:nvSpPr>
          <p:cNvPr id="4" name="Text 2"/>
          <p:cNvSpPr txBox="1"/>
          <p:nvPr/>
        </p:nvSpPr>
        <p:spPr>
          <a:xfrm>
            <a:off x="822960" y="2286000"/>
            <a:ext cx="65836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1650" dirty="0">
                <a:solidFill>
                  <a:srgbClr val="1A1A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 a counting question, the agent without extracted structure burns retries or refuses. With it, the agent answers in fewer rounds — checked against a Cypher-computed ground truth.</a:t>
            </a:r>
            <a:endParaRPr lang="en-US" sz="1650" dirty="0"/>
          </a:p>
        </p:txBody>
      </p:sp>
      <p:sp>
        <p:nvSpPr>
          <p:cNvPr id="5" name="Text 3"/>
          <p:cNvSpPr txBox="1"/>
          <p:nvPr/>
        </p:nvSpPr>
        <p:spPr>
          <a:xfrm>
            <a:off x="8366760" y="2377440"/>
            <a:ext cx="2926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8282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Without structure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8366760" y="2688336"/>
            <a:ext cx="2926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50" dirty="0">
                <a:solidFill>
                  <a:srgbClr val="1A1A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retries · refuses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8366760" y="3246120"/>
            <a:ext cx="2926080" cy="0"/>
          </a:xfrm>
          <a:prstGeom prst="line">
            <a:avLst/>
          </a:prstGeom>
          <a:noFill/>
          <a:ln w="12700">
            <a:solidFill>
              <a:srgbClr val="D3D3CE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8" name="Text 6"/>
          <p:cNvSpPr txBox="1"/>
          <p:nvPr/>
        </p:nvSpPr>
        <p:spPr>
          <a:xfrm>
            <a:off x="8366760" y="3429000"/>
            <a:ext cx="2926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2E6E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With structure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8366760" y="3739896"/>
            <a:ext cx="2926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50" dirty="0">
                <a:solidFill>
                  <a:srgbClr val="1A1A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correct, fewer rounds  </a:t>
            </a:r>
            <a:r>
              <a:rPr lang="en-US" sz="1350" b="1" dirty="0">
                <a:solidFill>
                  <a:srgbClr val="2E6E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350" dirty="0"/>
          </a:p>
        </p:txBody>
      </p:sp>
      <p:sp>
        <p:nvSpPr>
          <p:cNvPr id="10" name="Text 8"/>
          <p:cNvSpPr txBox="1"/>
          <p:nvPr/>
        </p:nvSpPr>
        <p:spPr>
          <a:xfrm>
            <a:off x="822960" y="5943600"/>
            <a:ext cx="105457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i="1" dirty="0">
                <a:solidFill>
                  <a:srgbClr val="8282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Cypher — Neo4j's query language, used here to compute the ground-truth count.</a:t>
            </a:r>
            <a:endParaRPr lang="en-US" sz="1050" dirty="0"/>
          </a:p>
        </p:txBody>
      </p:sp>
      <p:sp>
        <p:nvSpPr>
          <p:cNvPr id="11" name="Text 9"/>
          <p:cNvSpPr txBox="1"/>
          <p:nvPr/>
        </p:nvSpPr>
        <p:spPr>
          <a:xfrm>
            <a:off x="822960" y="64008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8282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Beyond GraphRAG</a:t>
            </a:r>
            <a:endParaRPr lang="en-US" sz="900" dirty="0"/>
          </a:p>
        </p:txBody>
      </p:sp>
      <p:sp>
        <p:nvSpPr>
          <p:cNvPr id="12" name="Text 10"/>
          <p:cNvSpPr txBox="1"/>
          <p:nvPr/>
        </p:nvSpPr>
        <p:spPr>
          <a:xfrm>
            <a:off x="5882335" y="64008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282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Module 04 · Recap</a:t>
            </a:r>
            <a:endParaRPr lang="en-US" sz="9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603504"/>
            <a:ext cx="105457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300" dirty="0">
                <a:solidFill>
                  <a:srgbClr val="8282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WHERE WE ARE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1554480"/>
            <a:ext cx="1054577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00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Module 04 complete.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868680" y="3977640"/>
            <a:ext cx="10451592" cy="0"/>
          </a:xfrm>
          <a:prstGeom prst="line">
            <a:avLst/>
          </a:prstGeom>
          <a:noFill/>
          <a:ln w="12700">
            <a:solidFill>
              <a:srgbClr val="D3D3CE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5" name="Shape 3"/>
          <p:cNvSpPr/>
          <p:nvPr/>
        </p:nvSpPr>
        <p:spPr>
          <a:xfrm>
            <a:off x="868680" y="3977640"/>
            <a:ext cx="5225796" cy="0"/>
          </a:xfrm>
          <a:prstGeom prst="line">
            <a:avLst/>
          </a:prstGeom>
          <a:noFill/>
          <a:ln w="19050">
            <a:solidFill>
              <a:srgbClr val="1A1A18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6" name="Shape 4"/>
          <p:cNvSpPr/>
          <p:nvPr/>
        </p:nvSpPr>
        <p:spPr>
          <a:xfrm>
            <a:off x="795528" y="3904488"/>
            <a:ext cx="146304" cy="146304"/>
          </a:xfrm>
          <a:prstGeom prst="ellipse">
            <a:avLst/>
          </a:prstGeom>
          <a:solidFill>
            <a:srgbClr val="1A1A18"/>
          </a:solidFill>
          <a:ln/>
        </p:spPr>
        <p:txBody>
          <a:bodyPr/>
          <a:lstStyle/>
          <a:p>
            <a:endParaRPr lang="en-IT"/>
          </a:p>
        </p:txBody>
      </p:sp>
      <p:sp>
        <p:nvSpPr>
          <p:cNvPr id="7" name="Text 5"/>
          <p:cNvSpPr txBox="1"/>
          <p:nvPr/>
        </p:nvSpPr>
        <p:spPr>
          <a:xfrm>
            <a:off x="91440" y="3465576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8282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100" dirty="0"/>
          </a:p>
        </p:txBody>
      </p:sp>
      <p:sp>
        <p:nvSpPr>
          <p:cNvPr id="8" name="Text 6"/>
          <p:cNvSpPr txBox="1"/>
          <p:nvPr/>
        </p:nvSpPr>
        <p:spPr>
          <a:xfrm>
            <a:off x="45720" y="4160520"/>
            <a:ext cx="1645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2000"/>
              </a:lnSpc>
              <a:buNone/>
            </a:pPr>
            <a:r>
              <a:rPr lang="en-US" sz="1000" dirty="0">
                <a:solidFill>
                  <a:srgbClr val="8282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Baseline</a:t>
            </a:r>
            <a:endParaRPr lang="en-US" sz="1000" dirty="0"/>
          </a:p>
          <a:p>
            <a:pPr marL="0" indent="0" algn="ctr">
              <a:lnSpc>
                <a:spcPct val="102000"/>
              </a:lnSpc>
              <a:buNone/>
            </a:pPr>
            <a:r>
              <a:rPr lang="en-US" sz="1000" dirty="0">
                <a:solidFill>
                  <a:srgbClr val="8282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RAG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2537460" y="3904488"/>
            <a:ext cx="146304" cy="146304"/>
          </a:xfrm>
          <a:prstGeom prst="ellipse">
            <a:avLst/>
          </a:prstGeom>
          <a:solidFill>
            <a:srgbClr val="1A1A18"/>
          </a:solidFill>
          <a:ln/>
        </p:spPr>
        <p:txBody>
          <a:bodyPr/>
          <a:lstStyle/>
          <a:p>
            <a:endParaRPr lang="en-IT"/>
          </a:p>
        </p:txBody>
      </p:sp>
      <p:sp>
        <p:nvSpPr>
          <p:cNvPr id="10" name="Text 8"/>
          <p:cNvSpPr txBox="1"/>
          <p:nvPr/>
        </p:nvSpPr>
        <p:spPr>
          <a:xfrm>
            <a:off x="1833372" y="3465576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8282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100" dirty="0"/>
          </a:p>
        </p:txBody>
      </p:sp>
      <p:sp>
        <p:nvSpPr>
          <p:cNvPr id="11" name="Text 9"/>
          <p:cNvSpPr txBox="1"/>
          <p:nvPr/>
        </p:nvSpPr>
        <p:spPr>
          <a:xfrm>
            <a:off x="1787652" y="4160520"/>
            <a:ext cx="1645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2000"/>
              </a:lnSpc>
              <a:buNone/>
            </a:pPr>
            <a:r>
              <a:rPr lang="en-US" sz="1000" dirty="0">
                <a:solidFill>
                  <a:srgbClr val="8282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Agentic</a:t>
            </a:r>
            <a:endParaRPr lang="en-US" sz="1000" dirty="0"/>
          </a:p>
          <a:p>
            <a:pPr marL="0" indent="0" algn="ctr">
              <a:lnSpc>
                <a:spcPct val="102000"/>
              </a:lnSpc>
              <a:buNone/>
            </a:pPr>
            <a:r>
              <a:rPr lang="en-US" sz="1000" dirty="0">
                <a:solidFill>
                  <a:srgbClr val="8282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retrieval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279392" y="3904488"/>
            <a:ext cx="146304" cy="146304"/>
          </a:xfrm>
          <a:prstGeom prst="ellipse">
            <a:avLst/>
          </a:prstGeom>
          <a:solidFill>
            <a:srgbClr val="1A1A18"/>
          </a:solidFill>
          <a:ln/>
        </p:spPr>
        <p:txBody>
          <a:bodyPr/>
          <a:lstStyle/>
          <a:p>
            <a:endParaRPr lang="en-IT"/>
          </a:p>
        </p:txBody>
      </p:sp>
      <p:sp>
        <p:nvSpPr>
          <p:cNvPr id="13" name="Text 11"/>
          <p:cNvSpPr txBox="1"/>
          <p:nvPr/>
        </p:nvSpPr>
        <p:spPr>
          <a:xfrm>
            <a:off x="3575304" y="3465576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8282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100" dirty="0"/>
          </a:p>
        </p:txBody>
      </p:sp>
      <p:sp>
        <p:nvSpPr>
          <p:cNvPr id="14" name="Text 12"/>
          <p:cNvSpPr txBox="1"/>
          <p:nvPr/>
        </p:nvSpPr>
        <p:spPr>
          <a:xfrm>
            <a:off x="3529584" y="4160520"/>
            <a:ext cx="1645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2000"/>
              </a:lnSpc>
              <a:buNone/>
            </a:pPr>
            <a:r>
              <a:rPr lang="en-US" sz="1000" dirty="0">
                <a:solidFill>
                  <a:srgbClr val="8282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Structured</a:t>
            </a:r>
            <a:endParaRPr lang="en-US" sz="1000" dirty="0"/>
          </a:p>
          <a:p>
            <a:pPr marL="0" indent="0" algn="ctr">
              <a:lnSpc>
                <a:spcPct val="102000"/>
              </a:lnSpc>
              <a:buNone/>
            </a:pPr>
            <a:r>
              <a:rPr lang="en-US" sz="1000" dirty="0">
                <a:solidFill>
                  <a:srgbClr val="8282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enrichment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5975604" y="3858768"/>
            <a:ext cx="237744" cy="237744"/>
          </a:xfrm>
          <a:prstGeom prst="ellipse">
            <a:avLst/>
          </a:prstGeom>
          <a:solidFill>
            <a:srgbClr val="2E6E6A"/>
          </a:solidFill>
          <a:ln/>
        </p:spPr>
        <p:txBody>
          <a:bodyPr/>
          <a:lstStyle/>
          <a:p>
            <a:endParaRPr lang="en-IT"/>
          </a:p>
        </p:txBody>
      </p:sp>
      <p:sp>
        <p:nvSpPr>
          <p:cNvPr id="16" name="Text 14"/>
          <p:cNvSpPr txBox="1"/>
          <p:nvPr/>
        </p:nvSpPr>
        <p:spPr>
          <a:xfrm>
            <a:off x="5317236" y="3465576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E6E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100" dirty="0"/>
          </a:p>
        </p:txBody>
      </p:sp>
      <p:sp>
        <p:nvSpPr>
          <p:cNvPr id="17" name="Text 15"/>
          <p:cNvSpPr txBox="1"/>
          <p:nvPr/>
        </p:nvSpPr>
        <p:spPr>
          <a:xfrm>
            <a:off x="5271516" y="4160520"/>
            <a:ext cx="1645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2000"/>
              </a:lnSpc>
              <a:buNone/>
            </a:pPr>
            <a:r>
              <a:rPr lang="en-US" sz="1000" b="1" dirty="0">
                <a:solidFill>
                  <a:srgbClr val="1A1A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LLM</a:t>
            </a:r>
            <a:endParaRPr lang="en-US" sz="1000" dirty="0"/>
          </a:p>
          <a:p>
            <a:pPr marL="0" indent="0" algn="ctr">
              <a:lnSpc>
                <a:spcPct val="102000"/>
              </a:lnSpc>
              <a:buNone/>
            </a:pPr>
            <a:r>
              <a:rPr lang="en-US" sz="1000" b="1" dirty="0">
                <a:solidFill>
                  <a:srgbClr val="1A1A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extraction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7754112" y="3895344"/>
            <a:ext cx="164592" cy="164592"/>
          </a:xfrm>
          <a:prstGeom prst="ellipse">
            <a:avLst/>
          </a:prstGeom>
          <a:solidFill>
            <a:srgbClr val="F4F4F2"/>
          </a:solidFill>
          <a:ln w="15875">
            <a:solidFill>
              <a:srgbClr val="82827B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19" name="Text 17"/>
          <p:cNvSpPr txBox="1"/>
          <p:nvPr/>
        </p:nvSpPr>
        <p:spPr>
          <a:xfrm>
            <a:off x="7059168" y="3154680"/>
            <a:ext cx="1554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kern="0" spc="200" dirty="0">
                <a:solidFill>
                  <a:srgbClr val="2E6E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UP NEXT</a:t>
            </a:r>
            <a:endParaRPr lang="en-US" sz="750" dirty="0"/>
          </a:p>
        </p:txBody>
      </p:sp>
      <p:sp>
        <p:nvSpPr>
          <p:cNvPr id="20" name="Text 18"/>
          <p:cNvSpPr txBox="1"/>
          <p:nvPr/>
        </p:nvSpPr>
        <p:spPr>
          <a:xfrm>
            <a:off x="7059168" y="3465576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A1A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1100" dirty="0"/>
          </a:p>
        </p:txBody>
      </p:sp>
      <p:sp>
        <p:nvSpPr>
          <p:cNvPr id="21" name="Text 19"/>
          <p:cNvSpPr txBox="1"/>
          <p:nvPr/>
        </p:nvSpPr>
        <p:spPr>
          <a:xfrm>
            <a:off x="7013448" y="4160520"/>
            <a:ext cx="1645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2000"/>
              </a:lnSpc>
              <a:buNone/>
            </a:pPr>
            <a:r>
              <a:rPr lang="en-US" sz="1000" dirty="0">
                <a:solidFill>
                  <a:srgbClr val="1A1A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Similarity &amp;</a:t>
            </a:r>
            <a:endParaRPr lang="en-US" sz="1000" dirty="0"/>
          </a:p>
          <a:p>
            <a:pPr marL="0" indent="0" algn="ctr">
              <a:lnSpc>
                <a:spcPct val="102000"/>
              </a:lnSpc>
              <a:buNone/>
            </a:pPr>
            <a:r>
              <a:rPr lang="en-US" sz="1000" dirty="0">
                <a:solidFill>
                  <a:srgbClr val="1A1A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resolution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9505188" y="3904488"/>
            <a:ext cx="146304" cy="146304"/>
          </a:xfrm>
          <a:prstGeom prst="ellipse">
            <a:avLst/>
          </a:prstGeom>
          <a:solidFill>
            <a:srgbClr val="F4F4F2"/>
          </a:solidFill>
          <a:ln w="12700">
            <a:solidFill>
              <a:srgbClr val="D3D3CE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23" name="Text 21"/>
          <p:cNvSpPr txBox="1"/>
          <p:nvPr/>
        </p:nvSpPr>
        <p:spPr>
          <a:xfrm>
            <a:off x="8801100" y="3465576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BBBB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1100" dirty="0"/>
          </a:p>
        </p:txBody>
      </p:sp>
      <p:sp>
        <p:nvSpPr>
          <p:cNvPr id="24" name="Text 22"/>
          <p:cNvSpPr txBox="1"/>
          <p:nvPr/>
        </p:nvSpPr>
        <p:spPr>
          <a:xfrm>
            <a:off x="8755380" y="4160520"/>
            <a:ext cx="1645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2000"/>
              </a:lnSpc>
              <a:buNone/>
            </a:pPr>
            <a:r>
              <a:rPr lang="en-US" sz="1000" dirty="0">
                <a:solidFill>
                  <a:srgbClr val="8282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Text2Cypher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11247120" y="3904488"/>
            <a:ext cx="146304" cy="146304"/>
          </a:xfrm>
          <a:prstGeom prst="ellipse">
            <a:avLst/>
          </a:prstGeom>
          <a:solidFill>
            <a:srgbClr val="F4F4F2"/>
          </a:solidFill>
          <a:ln w="12700">
            <a:solidFill>
              <a:srgbClr val="D3D3CE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26" name="Text 24"/>
          <p:cNvSpPr txBox="1"/>
          <p:nvPr/>
        </p:nvSpPr>
        <p:spPr>
          <a:xfrm>
            <a:off x="10543032" y="3465576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BBBB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</a:t>
            </a:r>
            <a:endParaRPr lang="en-US" sz="1100" dirty="0"/>
          </a:p>
        </p:txBody>
      </p:sp>
      <p:sp>
        <p:nvSpPr>
          <p:cNvPr id="27" name="Text 25"/>
          <p:cNvSpPr txBox="1"/>
          <p:nvPr/>
        </p:nvSpPr>
        <p:spPr>
          <a:xfrm>
            <a:off x="10497312" y="4160520"/>
            <a:ext cx="1645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2000"/>
              </a:lnSpc>
              <a:buNone/>
            </a:pPr>
            <a:r>
              <a:rPr lang="en-US" sz="1000" dirty="0">
                <a:solidFill>
                  <a:srgbClr val="8282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Evaluation &amp;</a:t>
            </a:r>
            <a:endParaRPr lang="en-US" sz="1000" dirty="0"/>
          </a:p>
          <a:p>
            <a:pPr marL="0" indent="0" algn="ctr">
              <a:lnSpc>
                <a:spcPct val="102000"/>
              </a:lnSpc>
              <a:buNone/>
            </a:pPr>
            <a:r>
              <a:rPr lang="en-US" sz="1000" dirty="0">
                <a:solidFill>
                  <a:srgbClr val="8282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production</a:t>
            </a:r>
            <a:endParaRPr lang="en-US" sz="1000" dirty="0"/>
          </a:p>
        </p:txBody>
      </p:sp>
      <p:sp>
        <p:nvSpPr>
          <p:cNvPr id="28" name="Text 26"/>
          <p:cNvSpPr txBox="1"/>
          <p:nvPr/>
        </p:nvSpPr>
        <p:spPr>
          <a:xfrm>
            <a:off x="822960" y="5257800"/>
            <a:ext cx="10545775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1500" dirty="0">
                <a:solidFill>
                  <a:srgbClr val="8282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Up next — link similar content and resolve duplicate entities.</a:t>
            </a:r>
            <a:endParaRPr lang="en-US" sz="1500" dirty="0"/>
          </a:p>
        </p:txBody>
      </p:sp>
      <p:sp>
        <p:nvSpPr>
          <p:cNvPr id="29" name="Text 27"/>
          <p:cNvSpPr txBox="1"/>
          <p:nvPr/>
        </p:nvSpPr>
        <p:spPr>
          <a:xfrm>
            <a:off x="822960" y="64008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8282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Beyond GraphRAG</a:t>
            </a:r>
            <a:endParaRPr lang="en-US" sz="900" dirty="0"/>
          </a:p>
        </p:txBody>
      </p:sp>
      <p:sp>
        <p:nvSpPr>
          <p:cNvPr id="30" name="Text 28"/>
          <p:cNvSpPr txBox="1"/>
          <p:nvPr/>
        </p:nvSpPr>
        <p:spPr>
          <a:xfrm>
            <a:off x="5882335" y="64008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282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Module 04 · Recap</a:t>
            </a:r>
            <a:endParaRPr lang="en-US" sz="9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603504"/>
            <a:ext cx="105457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300" dirty="0">
                <a:solidFill>
                  <a:srgbClr val="8282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MODULE 05 · RECAP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1280160"/>
            <a:ext cx="1054577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40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We improved the graph itself.</a:t>
            </a:r>
            <a:endParaRPr lang="en-US" sz="3400" dirty="0"/>
          </a:p>
        </p:txBody>
      </p:sp>
      <p:sp>
        <p:nvSpPr>
          <p:cNvPr id="4" name="Text 2"/>
          <p:cNvSpPr txBox="1"/>
          <p:nvPr/>
        </p:nvSpPr>
        <p:spPr>
          <a:xfrm>
            <a:off x="822960" y="2194560"/>
            <a:ext cx="10545775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2000"/>
              </a:lnSpc>
              <a:spcAft>
                <a:spcPts val="1000"/>
              </a:spcAft>
              <a:buNone/>
            </a:pPr>
            <a:r>
              <a:rPr lang="en-US" sz="1650" dirty="0">
                <a:solidFill>
                  <a:srgbClr val="1A1A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  SIMILAR_TO edges between chunks (vector-index search) drive redundancy-aware re-ranking and exploratory topic clustering (Louvain via GDS).</a:t>
            </a:r>
            <a:endParaRPr lang="en-US" sz="1650" dirty="0"/>
          </a:p>
          <a:p>
            <a:pPr marL="0" indent="0" algn="l">
              <a:lnSpc>
                <a:spcPct val="122000"/>
              </a:lnSpc>
              <a:buNone/>
            </a:pPr>
            <a:r>
              <a:rPr lang="en-US" sz="1650" dirty="0">
                <a:solidFill>
                  <a:srgbClr val="1A1A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  Duplicate entities are resolved — fuzzy name matching, then an LLM judging against graph context — and merged onto a canonical EntityGroup node via SAME_AS.</a:t>
            </a:r>
            <a:endParaRPr lang="en-US" sz="165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3886200"/>
            <a:ext cx="7315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1650" i="1" dirty="0">
                <a:solidFill>
                  <a:srgbClr val="1A1A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This is what turns a pile of extracted mentions into a graph you can actually query.</a:t>
            </a:r>
            <a:endParaRPr lang="en-US" sz="1650" dirty="0"/>
          </a:p>
        </p:txBody>
      </p:sp>
      <p:sp>
        <p:nvSpPr>
          <p:cNvPr id="6" name="Shape 4"/>
          <p:cNvSpPr/>
          <p:nvPr/>
        </p:nvSpPr>
        <p:spPr>
          <a:xfrm>
            <a:off x="8229600" y="3886200"/>
            <a:ext cx="457200" cy="292608"/>
          </a:xfrm>
          <a:prstGeom prst="rect">
            <a:avLst/>
          </a:prstGeom>
          <a:solidFill>
            <a:srgbClr val="F4F4F2"/>
          </a:solidFill>
          <a:ln w="13970">
            <a:solidFill>
              <a:srgbClr val="1A1A18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7" name="Shape 5"/>
          <p:cNvSpPr/>
          <p:nvPr/>
        </p:nvSpPr>
        <p:spPr>
          <a:xfrm>
            <a:off x="9509760" y="3886200"/>
            <a:ext cx="457200" cy="292608"/>
          </a:xfrm>
          <a:prstGeom prst="rect">
            <a:avLst/>
          </a:prstGeom>
          <a:solidFill>
            <a:srgbClr val="F4F4F2"/>
          </a:solidFill>
          <a:ln w="13970">
            <a:solidFill>
              <a:srgbClr val="1A1A18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8" name="Shape 6"/>
          <p:cNvSpPr/>
          <p:nvPr/>
        </p:nvSpPr>
        <p:spPr>
          <a:xfrm>
            <a:off x="8686800" y="4032504"/>
            <a:ext cx="822960" cy="0"/>
          </a:xfrm>
          <a:prstGeom prst="line">
            <a:avLst/>
          </a:prstGeom>
          <a:noFill/>
          <a:ln w="12700">
            <a:solidFill>
              <a:srgbClr val="82827B"/>
            </a:solidFill>
            <a:prstDash val="dash"/>
          </a:ln>
        </p:spPr>
        <p:txBody>
          <a:bodyPr/>
          <a:lstStyle/>
          <a:p>
            <a:endParaRPr lang="en-IT"/>
          </a:p>
        </p:txBody>
      </p:sp>
      <p:sp>
        <p:nvSpPr>
          <p:cNvPr id="9" name="Text 7"/>
          <p:cNvSpPr txBox="1"/>
          <p:nvPr/>
        </p:nvSpPr>
        <p:spPr>
          <a:xfrm>
            <a:off x="7955280" y="3575304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8282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SIMILAR_TO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8254263" y="4572000"/>
            <a:ext cx="274320" cy="274320"/>
          </a:xfrm>
          <a:prstGeom prst="ellipse">
            <a:avLst/>
          </a:prstGeom>
          <a:solidFill>
            <a:srgbClr val="F4F4F2"/>
          </a:solidFill>
          <a:ln w="13970">
            <a:solidFill>
              <a:srgbClr val="1A1A18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11" name="Shape 9"/>
          <p:cNvSpPr/>
          <p:nvPr/>
        </p:nvSpPr>
        <p:spPr>
          <a:xfrm>
            <a:off x="9939528" y="4597371"/>
            <a:ext cx="274320" cy="274320"/>
          </a:xfrm>
          <a:prstGeom prst="ellipse">
            <a:avLst/>
          </a:prstGeom>
          <a:solidFill>
            <a:srgbClr val="F4F4F2"/>
          </a:solidFill>
          <a:ln w="13970">
            <a:solidFill>
              <a:srgbClr val="1A1A18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12" name="Shape 10"/>
          <p:cNvSpPr/>
          <p:nvPr/>
        </p:nvSpPr>
        <p:spPr>
          <a:xfrm>
            <a:off x="8961120" y="5202936"/>
            <a:ext cx="310896" cy="310896"/>
          </a:xfrm>
          <a:prstGeom prst="ellipse">
            <a:avLst/>
          </a:prstGeom>
          <a:solidFill>
            <a:srgbClr val="2E6E6A"/>
          </a:solidFill>
          <a:ln/>
        </p:spPr>
        <p:txBody>
          <a:bodyPr/>
          <a:lstStyle/>
          <a:p>
            <a:endParaRPr lang="en-IT"/>
          </a:p>
        </p:txBody>
      </p:sp>
      <p:sp>
        <p:nvSpPr>
          <p:cNvPr id="13" name="Shape 11"/>
          <p:cNvSpPr/>
          <p:nvPr/>
        </p:nvSpPr>
        <p:spPr>
          <a:xfrm>
            <a:off x="8503920" y="4818888"/>
            <a:ext cx="612648" cy="384048"/>
          </a:xfrm>
          <a:prstGeom prst="line">
            <a:avLst/>
          </a:prstGeom>
          <a:noFill/>
          <a:ln w="16510">
            <a:solidFill>
              <a:srgbClr val="2E6E6A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14" name="Shape 12"/>
          <p:cNvSpPr/>
          <p:nvPr/>
        </p:nvSpPr>
        <p:spPr>
          <a:xfrm flipH="1">
            <a:off x="9116568" y="4818888"/>
            <a:ext cx="850392" cy="393192"/>
          </a:xfrm>
          <a:prstGeom prst="line">
            <a:avLst/>
          </a:prstGeom>
          <a:noFill/>
          <a:ln w="16510">
            <a:solidFill>
              <a:srgbClr val="2E6E6A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15" name="Text 13"/>
          <p:cNvSpPr txBox="1"/>
          <p:nvPr/>
        </p:nvSpPr>
        <p:spPr>
          <a:xfrm>
            <a:off x="9528048" y="4981419"/>
            <a:ext cx="1371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2E6E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SAME_AS</a:t>
            </a:r>
            <a:endParaRPr lang="en-US" sz="950" dirty="0"/>
          </a:p>
        </p:txBody>
      </p:sp>
      <p:sp>
        <p:nvSpPr>
          <p:cNvPr id="16" name="Text 14"/>
          <p:cNvSpPr txBox="1"/>
          <p:nvPr/>
        </p:nvSpPr>
        <p:spPr>
          <a:xfrm>
            <a:off x="8293608" y="5477256"/>
            <a:ext cx="1645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A1A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EntityGroup</a:t>
            </a:r>
            <a:endParaRPr lang="en-US" sz="1000" dirty="0"/>
          </a:p>
        </p:txBody>
      </p:sp>
      <p:sp>
        <p:nvSpPr>
          <p:cNvPr id="17" name="Text 15"/>
          <p:cNvSpPr txBox="1"/>
          <p:nvPr/>
        </p:nvSpPr>
        <p:spPr>
          <a:xfrm>
            <a:off x="822960" y="5943600"/>
            <a:ext cx="105457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i="1" dirty="0">
                <a:solidFill>
                  <a:srgbClr val="8282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GDS — Neo4j Graph Data Science library. Louvain — a community-detection algorithm.</a:t>
            </a:r>
            <a:endParaRPr lang="en-US" sz="1050" dirty="0"/>
          </a:p>
        </p:txBody>
      </p:sp>
      <p:sp>
        <p:nvSpPr>
          <p:cNvPr id="18" name="Text 16"/>
          <p:cNvSpPr txBox="1"/>
          <p:nvPr/>
        </p:nvSpPr>
        <p:spPr>
          <a:xfrm>
            <a:off x="822960" y="64008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8282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Beyond GraphRAG</a:t>
            </a:r>
            <a:endParaRPr lang="en-US" sz="900" dirty="0"/>
          </a:p>
        </p:txBody>
      </p:sp>
      <p:sp>
        <p:nvSpPr>
          <p:cNvPr id="19" name="Text 17"/>
          <p:cNvSpPr txBox="1"/>
          <p:nvPr/>
        </p:nvSpPr>
        <p:spPr>
          <a:xfrm>
            <a:off x="5882335" y="64008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282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Module 05 · Recap</a:t>
            </a:r>
            <a:endParaRPr lang="en-US" sz="900" dirty="0"/>
          </a:p>
        </p:txBody>
      </p:sp>
      <p:sp>
        <p:nvSpPr>
          <p:cNvPr id="20" name="Text 13">
            <a:extLst>
              <a:ext uri="{FF2B5EF4-FFF2-40B4-BE49-F238E27FC236}">
                <a16:creationId xmlns:a16="http://schemas.microsoft.com/office/drawing/2014/main" id="{280B0AE5-900E-DECD-A116-8C0AF789126D}"/>
              </a:ext>
            </a:extLst>
          </p:cNvPr>
          <p:cNvSpPr txBox="1"/>
          <p:nvPr/>
        </p:nvSpPr>
        <p:spPr>
          <a:xfrm>
            <a:off x="8156448" y="4966802"/>
            <a:ext cx="1371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2E6E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SAME_AS</a:t>
            </a:r>
            <a:endParaRPr lang="en-US" sz="95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603504"/>
            <a:ext cx="105457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300" dirty="0">
                <a:solidFill>
                  <a:srgbClr val="8282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WHERE WE ARE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1554480"/>
            <a:ext cx="1054577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00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Module 05 complete.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868680" y="3977640"/>
            <a:ext cx="10451592" cy="0"/>
          </a:xfrm>
          <a:prstGeom prst="line">
            <a:avLst/>
          </a:prstGeom>
          <a:noFill/>
          <a:ln w="12700">
            <a:solidFill>
              <a:srgbClr val="D3D3CE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5" name="Shape 3"/>
          <p:cNvSpPr/>
          <p:nvPr/>
        </p:nvSpPr>
        <p:spPr>
          <a:xfrm>
            <a:off x="868680" y="3977640"/>
            <a:ext cx="6967728" cy="0"/>
          </a:xfrm>
          <a:prstGeom prst="line">
            <a:avLst/>
          </a:prstGeom>
          <a:noFill/>
          <a:ln w="19050">
            <a:solidFill>
              <a:srgbClr val="1A1A18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6" name="Shape 4"/>
          <p:cNvSpPr/>
          <p:nvPr/>
        </p:nvSpPr>
        <p:spPr>
          <a:xfrm>
            <a:off x="795528" y="3904488"/>
            <a:ext cx="146304" cy="146304"/>
          </a:xfrm>
          <a:prstGeom prst="ellipse">
            <a:avLst/>
          </a:prstGeom>
          <a:solidFill>
            <a:srgbClr val="1A1A18"/>
          </a:solidFill>
          <a:ln/>
        </p:spPr>
        <p:txBody>
          <a:bodyPr/>
          <a:lstStyle/>
          <a:p>
            <a:endParaRPr lang="en-IT"/>
          </a:p>
        </p:txBody>
      </p:sp>
      <p:sp>
        <p:nvSpPr>
          <p:cNvPr id="7" name="Text 5"/>
          <p:cNvSpPr txBox="1"/>
          <p:nvPr/>
        </p:nvSpPr>
        <p:spPr>
          <a:xfrm>
            <a:off x="91440" y="3465576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8282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100" dirty="0"/>
          </a:p>
        </p:txBody>
      </p:sp>
      <p:sp>
        <p:nvSpPr>
          <p:cNvPr id="8" name="Text 6"/>
          <p:cNvSpPr txBox="1"/>
          <p:nvPr/>
        </p:nvSpPr>
        <p:spPr>
          <a:xfrm>
            <a:off x="45720" y="4160520"/>
            <a:ext cx="1645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2000"/>
              </a:lnSpc>
              <a:buNone/>
            </a:pPr>
            <a:r>
              <a:rPr lang="en-US" sz="1000" dirty="0">
                <a:solidFill>
                  <a:srgbClr val="8282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Baseline</a:t>
            </a:r>
            <a:endParaRPr lang="en-US" sz="1000" dirty="0"/>
          </a:p>
          <a:p>
            <a:pPr marL="0" indent="0" algn="ctr">
              <a:lnSpc>
                <a:spcPct val="102000"/>
              </a:lnSpc>
              <a:buNone/>
            </a:pPr>
            <a:r>
              <a:rPr lang="en-US" sz="1000" dirty="0">
                <a:solidFill>
                  <a:srgbClr val="8282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RAG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2537460" y="3904488"/>
            <a:ext cx="146304" cy="146304"/>
          </a:xfrm>
          <a:prstGeom prst="ellipse">
            <a:avLst/>
          </a:prstGeom>
          <a:solidFill>
            <a:srgbClr val="1A1A18"/>
          </a:solidFill>
          <a:ln/>
        </p:spPr>
        <p:txBody>
          <a:bodyPr/>
          <a:lstStyle/>
          <a:p>
            <a:endParaRPr lang="en-IT"/>
          </a:p>
        </p:txBody>
      </p:sp>
      <p:sp>
        <p:nvSpPr>
          <p:cNvPr id="10" name="Text 8"/>
          <p:cNvSpPr txBox="1"/>
          <p:nvPr/>
        </p:nvSpPr>
        <p:spPr>
          <a:xfrm>
            <a:off x="1833372" y="3465576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8282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100" dirty="0"/>
          </a:p>
        </p:txBody>
      </p:sp>
      <p:sp>
        <p:nvSpPr>
          <p:cNvPr id="11" name="Text 9"/>
          <p:cNvSpPr txBox="1"/>
          <p:nvPr/>
        </p:nvSpPr>
        <p:spPr>
          <a:xfrm>
            <a:off x="1787652" y="4160520"/>
            <a:ext cx="1645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2000"/>
              </a:lnSpc>
              <a:buNone/>
            </a:pPr>
            <a:r>
              <a:rPr lang="en-US" sz="1000" dirty="0">
                <a:solidFill>
                  <a:srgbClr val="8282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Agentic</a:t>
            </a:r>
            <a:endParaRPr lang="en-US" sz="1000" dirty="0"/>
          </a:p>
          <a:p>
            <a:pPr marL="0" indent="0" algn="ctr">
              <a:lnSpc>
                <a:spcPct val="102000"/>
              </a:lnSpc>
              <a:buNone/>
            </a:pPr>
            <a:r>
              <a:rPr lang="en-US" sz="1000" dirty="0">
                <a:solidFill>
                  <a:srgbClr val="8282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retrieval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279392" y="3904488"/>
            <a:ext cx="146304" cy="146304"/>
          </a:xfrm>
          <a:prstGeom prst="ellipse">
            <a:avLst/>
          </a:prstGeom>
          <a:solidFill>
            <a:srgbClr val="1A1A18"/>
          </a:solidFill>
          <a:ln/>
        </p:spPr>
        <p:txBody>
          <a:bodyPr/>
          <a:lstStyle/>
          <a:p>
            <a:endParaRPr lang="en-IT"/>
          </a:p>
        </p:txBody>
      </p:sp>
      <p:sp>
        <p:nvSpPr>
          <p:cNvPr id="13" name="Text 11"/>
          <p:cNvSpPr txBox="1"/>
          <p:nvPr/>
        </p:nvSpPr>
        <p:spPr>
          <a:xfrm>
            <a:off x="3575304" y="3465576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8282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100" dirty="0"/>
          </a:p>
        </p:txBody>
      </p:sp>
      <p:sp>
        <p:nvSpPr>
          <p:cNvPr id="14" name="Text 12"/>
          <p:cNvSpPr txBox="1"/>
          <p:nvPr/>
        </p:nvSpPr>
        <p:spPr>
          <a:xfrm>
            <a:off x="3529584" y="4160520"/>
            <a:ext cx="1645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2000"/>
              </a:lnSpc>
              <a:buNone/>
            </a:pPr>
            <a:r>
              <a:rPr lang="en-US" sz="1000" dirty="0">
                <a:solidFill>
                  <a:srgbClr val="8282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Structured</a:t>
            </a:r>
            <a:endParaRPr lang="en-US" sz="1000" dirty="0"/>
          </a:p>
          <a:p>
            <a:pPr marL="0" indent="0" algn="ctr">
              <a:lnSpc>
                <a:spcPct val="102000"/>
              </a:lnSpc>
              <a:buNone/>
            </a:pPr>
            <a:r>
              <a:rPr lang="en-US" sz="1000" dirty="0">
                <a:solidFill>
                  <a:srgbClr val="8282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enrichment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6021324" y="3904488"/>
            <a:ext cx="146304" cy="146304"/>
          </a:xfrm>
          <a:prstGeom prst="ellipse">
            <a:avLst/>
          </a:prstGeom>
          <a:solidFill>
            <a:srgbClr val="1A1A18"/>
          </a:solidFill>
          <a:ln/>
        </p:spPr>
        <p:txBody>
          <a:bodyPr/>
          <a:lstStyle/>
          <a:p>
            <a:endParaRPr lang="en-IT"/>
          </a:p>
        </p:txBody>
      </p:sp>
      <p:sp>
        <p:nvSpPr>
          <p:cNvPr id="16" name="Text 14"/>
          <p:cNvSpPr txBox="1"/>
          <p:nvPr/>
        </p:nvSpPr>
        <p:spPr>
          <a:xfrm>
            <a:off x="5317236" y="3465576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8282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100" dirty="0"/>
          </a:p>
        </p:txBody>
      </p:sp>
      <p:sp>
        <p:nvSpPr>
          <p:cNvPr id="17" name="Text 15"/>
          <p:cNvSpPr txBox="1"/>
          <p:nvPr/>
        </p:nvSpPr>
        <p:spPr>
          <a:xfrm>
            <a:off x="5271516" y="4160520"/>
            <a:ext cx="1645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2000"/>
              </a:lnSpc>
              <a:buNone/>
            </a:pPr>
            <a:r>
              <a:rPr lang="en-US" sz="1000" dirty="0">
                <a:solidFill>
                  <a:srgbClr val="8282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LLM</a:t>
            </a:r>
            <a:endParaRPr lang="en-US" sz="1000" dirty="0"/>
          </a:p>
          <a:p>
            <a:pPr marL="0" indent="0" algn="ctr">
              <a:lnSpc>
                <a:spcPct val="102000"/>
              </a:lnSpc>
              <a:buNone/>
            </a:pPr>
            <a:r>
              <a:rPr lang="en-US" sz="1000" dirty="0">
                <a:solidFill>
                  <a:srgbClr val="8282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extraction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7717536" y="3858768"/>
            <a:ext cx="237744" cy="237744"/>
          </a:xfrm>
          <a:prstGeom prst="ellipse">
            <a:avLst/>
          </a:prstGeom>
          <a:solidFill>
            <a:srgbClr val="2E6E6A"/>
          </a:solidFill>
          <a:ln/>
        </p:spPr>
        <p:txBody>
          <a:bodyPr/>
          <a:lstStyle/>
          <a:p>
            <a:endParaRPr lang="en-IT"/>
          </a:p>
        </p:txBody>
      </p:sp>
      <p:sp>
        <p:nvSpPr>
          <p:cNvPr id="19" name="Text 17"/>
          <p:cNvSpPr txBox="1"/>
          <p:nvPr/>
        </p:nvSpPr>
        <p:spPr>
          <a:xfrm>
            <a:off x="7059168" y="3465576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E6E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1100" dirty="0"/>
          </a:p>
        </p:txBody>
      </p:sp>
      <p:sp>
        <p:nvSpPr>
          <p:cNvPr id="20" name="Text 18"/>
          <p:cNvSpPr txBox="1"/>
          <p:nvPr/>
        </p:nvSpPr>
        <p:spPr>
          <a:xfrm>
            <a:off x="7013448" y="4160520"/>
            <a:ext cx="1645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2000"/>
              </a:lnSpc>
              <a:buNone/>
            </a:pPr>
            <a:r>
              <a:rPr lang="en-US" sz="1000" b="1" dirty="0">
                <a:solidFill>
                  <a:srgbClr val="1A1A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Similarity &amp;</a:t>
            </a:r>
            <a:endParaRPr lang="en-US" sz="1000" dirty="0"/>
          </a:p>
          <a:p>
            <a:pPr marL="0" indent="0" algn="ctr">
              <a:lnSpc>
                <a:spcPct val="102000"/>
              </a:lnSpc>
              <a:buNone/>
            </a:pPr>
            <a:r>
              <a:rPr lang="en-US" sz="1000" b="1" dirty="0">
                <a:solidFill>
                  <a:srgbClr val="1A1A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resolution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9496044" y="3895344"/>
            <a:ext cx="164592" cy="164592"/>
          </a:xfrm>
          <a:prstGeom prst="ellipse">
            <a:avLst/>
          </a:prstGeom>
          <a:solidFill>
            <a:srgbClr val="F4F4F2"/>
          </a:solidFill>
          <a:ln w="15875">
            <a:solidFill>
              <a:srgbClr val="82827B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22" name="Text 20"/>
          <p:cNvSpPr txBox="1"/>
          <p:nvPr/>
        </p:nvSpPr>
        <p:spPr>
          <a:xfrm>
            <a:off x="8801100" y="3154680"/>
            <a:ext cx="1554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kern="0" spc="200" dirty="0">
                <a:solidFill>
                  <a:srgbClr val="2E6E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UP NEXT</a:t>
            </a:r>
            <a:endParaRPr lang="en-US" sz="750" dirty="0"/>
          </a:p>
        </p:txBody>
      </p:sp>
      <p:sp>
        <p:nvSpPr>
          <p:cNvPr id="23" name="Text 21"/>
          <p:cNvSpPr txBox="1"/>
          <p:nvPr/>
        </p:nvSpPr>
        <p:spPr>
          <a:xfrm>
            <a:off x="8801100" y="3465576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A1A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1100" dirty="0"/>
          </a:p>
        </p:txBody>
      </p:sp>
      <p:sp>
        <p:nvSpPr>
          <p:cNvPr id="24" name="Text 22"/>
          <p:cNvSpPr txBox="1"/>
          <p:nvPr/>
        </p:nvSpPr>
        <p:spPr>
          <a:xfrm>
            <a:off x="8755380" y="4160520"/>
            <a:ext cx="1645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2000"/>
              </a:lnSpc>
              <a:buNone/>
            </a:pPr>
            <a:r>
              <a:rPr lang="en-US" sz="1000" dirty="0">
                <a:solidFill>
                  <a:srgbClr val="1A1A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Text2Cypher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11247120" y="3904488"/>
            <a:ext cx="146304" cy="146304"/>
          </a:xfrm>
          <a:prstGeom prst="ellipse">
            <a:avLst/>
          </a:prstGeom>
          <a:solidFill>
            <a:srgbClr val="F4F4F2"/>
          </a:solidFill>
          <a:ln w="12700">
            <a:solidFill>
              <a:srgbClr val="D3D3CE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26" name="Text 24"/>
          <p:cNvSpPr txBox="1"/>
          <p:nvPr/>
        </p:nvSpPr>
        <p:spPr>
          <a:xfrm>
            <a:off x="10543032" y="3465576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BBBB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</a:t>
            </a:r>
            <a:endParaRPr lang="en-US" sz="1100" dirty="0"/>
          </a:p>
        </p:txBody>
      </p:sp>
      <p:sp>
        <p:nvSpPr>
          <p:cNvPr id="27" name="Text 25"/>
          <p:cNvSpPr txBox="1"/>
          <p:nvPr/>
        </p:nvSpPr>
        <p:spPr>
          <a:xfrm>
            <a:off x="10497312" y="4160520"/>
            <a:ext cx="1645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2000"/>
              </a:lnSpc>
              <a:buNone/>
            </a:pPr>
            <a:r>
              <a:rPr lang="en-US" sz="1000" dirty="0">
                <a:solidFill>
                  <a:srgbClr val="8282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Evaluation &amp;</a:t>
            </a:r>
            <a:endParaRPr lang="en-US" sz="1000" dirty="0"/>
          </a:p>
          <a:p>
            <a:pPr marL="0" indent="0" algn="ctr">
              <a:lnSpc>
                <a:spcPct val="102000"/>
              </a:lnSpc>
              <a:buNone/>
            </a:pPr>
            <a:r>
              <a:rPr lang="en-US" sz="1000" dirty="0">
                <a:solidFill>
                  <a:srgbClr val="8282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production</a:t>
            </a:r>
            <a:endParaRPr lang="en-US" sz="1000" dirty="0"/>
          </a:p>
        </p:txBody>
      </p:sp>
      <p:sp>
        <p:nvSpPr>
          <p:cNvPr id="28" name="Text 26"/>
          <p:cNvSpPr txBox="1"/>
          <p:nvPr/>
        </p:nvSpPr>
        <p:spPr>
          <a:xfrm>
            <a:off x="822960" y="5257800"/>
            <a:ext cx="10545775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1500" dirty="0">
                <a:solidFill>
                  <a:srgbClr val="8282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Up next — a text-to-Cypher escape hatch for open-ended questions.</a:t>
            </a:r>
            <a:endParaRPr lang="en-US" sz="1500" dirty="0"/>
          </a:p>
        </p:txBody>
      </p:sp>
      <p:sp>
        <p:nvSpPr>
          <p:cNvPr id="29" name="Text 27"/>
          <p:cNvSpPr txBox="1"/>
          <p:nvPr/>
        </p:nvSpPr>
        <p:spPr>
          <a:xfrm>
            <a:off x="822960" y="64008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8282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Beyond GraphRAG</a:t>
            </a:r>
            <a:endParaRPr lang="en-US" sz="900" dirty="0"/>
          </a:p>
        </p:txBody>
      </p:sp>
      <p:sp>
        <p:nvSpPr>
          <p:cNvPr id="30" name="Text 28"/>
          <p:cNvSpPr txBox="1"/>
          <p:nvPr/>
        </p:nvSpPr>
        <p:spPr>
          <a:xfrm>
            <a:off x="5882335" y="64008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282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Module 05 · Recap</a:t>
            </a:r>
            <a:endParaRPr lang="en-US" sz="9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603504"/>
            <a:ext cx="105457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300" dirty="0">
                <a:solidFill>
                  <a:srgbClr val="8282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MODULE 06 · RECAP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1371600"/>
            <a:ext cx="1054577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40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last-resort way to ask anything.</a:t>
            </a:r>
            <a:endParaRPr lang="en-US" sz="3400" dirty="0"/>
          </a:p>
        </p:txBody>
      </p:sp>
      <p:sp>
        <p:nvSpPr>
          <p:cNvPr id="4" name="Text 2"/>
          <p:cNvSpPr txBox="1"/>
          <p:nvPr/>
        </p:nvSpPr>
        <p:spPr>
          <a:xfrm>
            <a:off x="822960" y="2377440"/>
            <a:ext cx="10545775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2000"/>
              </a:lnSpc>
              <a:spcAft>
                <a:spcPts val="1000"/>
              </a:spcAft>
              <a:buNone/>
            </a:pPr>
            <a:r>
              <a:rPr lang="en-US" sz="1650" dirty="0">
                <a:solidFill>
                  <a:srgbClr val="1A1A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  A schema-aware chain translates natural language into Cypher, wired in as an agent tool with write-operation guardrails.</a:t>
            </a:r>
            <a:endParaRPr lang="en-US" sz="1650" dirty="0"/>
          </a:p>
          <a:p>
            <a:pPr marL="0" indent="0" algn="l">
              <a:lnSpc>
                <a:spcPct val="122000"/>
              </a:lnSpc>
              <a:buNone/>
            </a:pPr>
            <a:r>
              <a:rPr lang="en-US" sz="1650" dirty="0">
                <a:solidFill>
                  <a:srgbClr val="1A1A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  Reached for only when the curated tools can't answer — powerful, and the one tool we trust least by default.</a:t>
            </a:r>
            <a:endParaRPr lang="en-US" sz="165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4114800"/>
            <a:ext cx="10058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1600" dirty="0">
                <a:solidFill>
                  <a:srgbClr val="8282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Curated tools first; generation is the escape hatch, not the default.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5943600"/>
            <a:ext cx="105457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i="1" dirty="0">
                <a:solidFill>
                  <a:srgbClr val="8282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Cypher — Neo4j's query language. NL — natural language.</a:t>
            </a:r>
            <a:endParaRPr lang="en-US" sz="105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64008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8282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Beyond GraphRAG</a:t>
            </a:r>
            <a:endParaRPr lang="en-US" sz="900" dirty="0"/>
          </a:p>
        </p:txBody>
      </p:sp>
      <p:sp>
        <p:nvSpPr>
          <p:cNvPr id="8" name="Text 6"/>
          <p:cNvSpPr txBox="1"/>
          <p:nvPr/>
        </p:nvSpPr>
        <p:spPr>
          <a:xfrm>
            <a:off x="5882335" y="64008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282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Module 06 · Recap</a:t>
            </a:r>
            <a:endParaRPr lang="en-US" sz="9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603504"/>
            <a:ext cx="105457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300" dirty="0">
                <a:solidFill>
                  <a:srgbClr val="8282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HONEST PART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1371600"/>
            <a:ext cx="100584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20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Powerful, and not yet fully trustworthy.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822960" y="2788920"/>
            <a:ext cx="96926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1650" dirty="0">
                <a:solidFill>
                  <a:srgbClr val="1A1A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Building it surfaced a real correctness bug — we found a measured mitigation, but generation stays probabilistic, improved, not guaranteed. And a measured limit: single-hop generated queries are reliable, multi-hop joins are not yet. We present both as genuine limitations, not footnotes.</a:t>
            </a:r>
            <a:endParaRPr lang="en-US" sz="165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434340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00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This is the </a:t>
            </a:r>
            <a:r>
              <a:rPr lang="en-US" sz="2000" i="1" dirty="0">
                <a:solidFill>
                  <a:srgbClr val="2E6E6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explainable</a:t>
            </a:r>
            <a:r>
              <a:rPr lang="en-US" sz="200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half of the title doing its work.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64008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8282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Beyond GraphRAG</a:t>
            </a:r>
            <a:endParaRPr lang="en-US" sz="900" dirty="0"/>
          </a:p>
        </p:txBody>
      </p:sp>
      <p:sp>
        <p:nvSpPr>
          <p:cNvPr id="7" name="Text 5"/>
          <p:cNvSpPr txBox="1"/>
          <p:nvPr/>
        </p:nvSpPr>
        <p:spPr>
          <a:xfrm>
            <a:off x="5882335" y="64008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282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Module 06 · Recap</a:t>
            </a:r>
            <a:endParaRPr lang="en-US" sz="9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603504"/>
            <a:ext cx="105457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300" dirty="0">
                <a:solidFill>
                  <a:srgbClr val="8282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WHERE WE ARE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1554480"/>
            <a:ext cx="1054577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00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Module 06 complete.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868680" y="3977640"/>
            <a:ext cx="10451592" cy="0"/>
          </a:xfrm>
          <a:prstGeom prst="line">
            <a:avLst/>
          </a:prstGeom>
          <a:noFill/>
          <a:ln w="12700">
            <a:solidFill>
              <a:srgbClr val="D3D3CE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5" name="Shape 3"/>
          <p:cNvSpPr/>
          <p:nvPr/>
        </p:nvSpPr>
        <p:spPr>
          <a:xfrm>
            <a:off x="868680" y="3977640"/>
            <a:ext cx="8709660" cy="0"/>
          </a:xfrm>
          <a:prstGeom prst="line">
            <a:avLst/>
          </a:prstGeom>
          <a:noFill/>
          <a:ln w="19050">
            <a:solidFill>
              <a:srgbClr val="1A1A18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6" name="Shape 4"/>
          <p:cNvSpPr/>
          <p:nvPr/>
        </p:nvSpPr>
        <p:spPr>
          <a:xfrm>
            <a:off x="795528" y="3904488"/>
            <a:ext cx="146304" cy="146304"/>
          </a:xfrm>
          <a:prstGeom prst="ellipse">
            <a:avLst/>
          </a:prstGeom>
          <a:solidFill>
            <a:srgbClr val="1A1A18"/>
          </a:solidFill>
          <a:ln/>
        </p:spPr>
        <p:txBody>
          <a:bodyPr/>
          <a:lstStyle/>
          <a:p>
            <a:endParaRPr lang="en-IT"/>
          </a:p>
        </p:txBody>
      </p:sp>
      <p:sp>
        <p:nvSpPr>
          <p:cNvPr id="7" name="Text 5"/>
          <p:cNvSpPr txBox="1"/>
          <p:nvPr/>
        </p:nvSpPr>
        <p:spPr>
          <a:xfrm>
            <a:off x="91440" y="3465576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8282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100" dirty="0"/>
          </a:p>
        </p:txBody>
      </p:sp>
      <p:sp>
        <p:nvSpPr>
          <p:cNvPr id="8" name="Text 6"/>
          <p:cNvSpPr txBox="1"/>
          <p:nvPr/>
        </p:nvSpPr>
        <p:spPr>
          <a:xfrm>
            <a:off x="45720" y="4160520"/>
            <a:ext cx="1645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2000"/>
              </a:lnSpc>
              <a:buNone/>
            </a:pPr>
            <a:r>
              <a:rPr lang="en-US" sz="1000" dirty="0">
                <a:solidFill>
                  <a:srgbClr val="8282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Baseline</a:t>
            </a:r>
            <a:endParaRPr lang="en-US" sz="1000" dirty="0"/>
          </a:p>
          <a:p>
            <a:pPr marL="0" indent="0" algn="ctr">
              <a:lnSpc>
                <a:spcPct val="102000"/>
              </a:lnSpc>
              <a:buNone/>
            </a:pPr>
            <a:r>
              <a:rPr lang="en-US" sz="1000" dirty="0">
                <a:solidFill>
                  <a:srgbClr val="8282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RAG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2537460" y="3904488"/>
            <a:ext cx="146304" cy="146304"/>
          </a:xfrm>
          <a:prstGeom prst="ellipse">
            <a:avLst/>
          </a:prstGeom>
          <a:solidFill>
            <a:srgbClr val="1A1A18"/>
          </a:solidFill>
          <a:ln/>
        </p:spPr>
        <p:txBody>
          <a:bodyPr/>
          <a:lstStyle/>
          <a:p>
            <a:endParaRPr lang="en-IT"/>
          </a:p>
        </p:txBody>
      </p:sp>
      <p:sp>
        <p:nvSpPr>
          <p:cNvPr id="10" name="Text 8"/>
          <p:cNvSpPr txBox="1"/>
          <p:nvPr/>
        </p:nvSpPr>
        <p:spPr>
          <a:xfrm>
            <a:off x="1833372" y="3465576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8282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100" dirty="0"/>
          </a:p>
        </p:txBody>
      </p:sp>
      <p:sp>
        <p:nvSpPr>
          <p:cNvPr id="11" name="Text 9"/>
          <p:cNvSpPr txBox="1"/>
          <p:nvPr/>
        </p:nvSpPr>
        <p:spPr>
          <a:xfrm>
            <a:off x="1787652" y="4160520"/>
            <a:ext cx="1645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2000"/>
              </a:lnSpc>
              <a:buNone/>
            </a:pPr>
            <a:r>
              <a:rPr lang="en-US" sz="1000" dirty="0">
                <a:solidFill>
                  <a:srgbClr val="8282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Agentic</a:t>
            </a:r>
            <a:endParaRPr lang="en-US" sz="1000" dirty="0"/>
          </a:p>
          <a:p>
            <a:pPr marL="0" indent="0" algn="ctr">
              <a:lnSpc>
                <a:spcPct val="102000"/>
              </a:lnSpc>
              <a:buNone/>
            </a:pPr>
            <a:r>
              <a:rPr lang="en-US" sz="1000" dirty="0">
                <a:solidFill>
                  <a:srgbClr val="8282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retrieval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279392" y="3904488"/>
            <a:ext cx="146304" cy="146304"/>
          </a:xfrm>
          <a:prstGeom prst="ellipse">
            <a:avLst/>
          </a:prstGeom>
          <a:solidFill>
            <a:srgbClr val="1A1A18"/>
          </a:solidFill>
          <a:ln/>
        </p:spPr>
        <p:txBody>
          <a:bodyPr/>
          <a:lstStyle/>
          <a:p>
            <a:endParaRPr lang="en-IT"/>
          </a:p>
        </p:txBody>
      </p:sp>
      <p:sp>
        <p:nvSpPr>
          <p:cNvPr id="13" name="Text 11"/>
          <p:cNvSpPr txBox="1"/>
          <p:nvPr/>
        </p:nvSpPr>
        <p:spPr>
          <a:xfrm>
            <a:off x="3575304" y="3465576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8282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100" dirty="0"/>
          </a:p>
        </p:txBody>
      </p:sp>
      <p:sp>
        <p:nvSpPr>
          <p:cNvPr id="14" name="Text 12"/>
          <p:cNvSpPr txBox="1"/>
          <p:nvPr/>
        </p:nvSpPr>
        <p:spPr>
          <a:xfrm>
            <a:off x="3529584" y="4160520"/>
            <a:ext cx="1645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2000"/>
              </a:lnSpc>
              <a:buNone/>
            </a:pPr>
            <a:r>
              <a:rPr lang="en-US" sz="1000" dirty="0">
                <a:solidFill>
                  <a:srgbClr val="8282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Structured</a:t>
            </a:r>
            <a:endParaRPr lang="en-US" sz="1000" dirty="0"/>
          </a:p>
          <a:p>
            <a:pPr marL="0" indent="0" algn="ctr">
              <a:lnSpc>
                <a:spcPct val="102000"/>
              </a:lnSpc>
              <a:buNone/>
            </a:pPr>
            <a:r>
              <a:rPr lang="en-US" sz="1000" dirty="0">
                <a:solidFill>
                  <a:srgbClr val="8282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enrichment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6021324" y="3904488"/>
            <a:ext cx="146304" cy="146304"/>
          </a:xfrm>
          <a:prstGeom prst="ellipse">
            <a:avLst/>
          </a:prstGeom>
          <a:solidFill>
            <a:srgbClr val="1A1A18"/>
          </a:solidFill>
          <a:ln/>
        </p:spPr>
        <p:txBody>
          <a:bodyPr/>
          <a:lstStyle/>
          <a:p>
            <a:endParaRPr lang="en-IT"/>
          </a:p>
        </p:txBody>
      </p:sp>
      <p:sp>
        <p:nvSpPr>
          <p:cNvPr id="16" name="Text 14"/>
          <p:cNvSpPr txBox="1"/>
          <p:nvPr/>
        </p:nvSpPr>
        <p:spPr>
          <a:xfrm>
            <a:off x="5317236" y="3465576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8282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100" dirty="0"/>
          </a:p>
        </p:txBody>
      </p:sp>
      <p:sp>
        <p:nvSpPr>
          <p:cNvPr id="17" name="Text 15"/>
          <p:cNvSpPr txBox="1"/>
          <p:nvPr/>
        </p:nvSpPr>
        <p:spPr>
          <a:xfrm>
            <a:off x="5271516" y="4160520"/>
            <a:ext cx="1645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2000"/>
              </a:lnSpc>
              <a:buNone/>
            </a:pPr>
            <a:r>
              <a:rPr lang="en-US" sz="1000" dirty="0">
                <a:solidFill>
                  <a:srgbClr val="8282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LLM</a:t>
            </a:r>
            <a:endParaRPr lang="en-US" sz="1000" dirty="0"/>
          </a:p>
          <a:p>
            <a:pPr marL="0" indent="0" algn="ctr">
              <a:lnSpc>
                <a:spcPct val="102000"/>
              </a:lnSpc>
              <a:buNone/>
            </a:pPr>
            <a:r>
              <a:rPr lang="en-US" sz="1000" dirty="0">
                <a:solidFill>
                  <a:srgbClr val="8282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extraction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7763256" y="3904488"/>
            <a:ext cx="146304" cy="146304"/>
          </a:xfrm>
          <a:prstGeom prst="ellipse">
            <a:avLst/>
          </a:prstGeom>
          <a:solidFill>
            <a:srgbClr val="1A1A18"/>
          </a:solidFill>
          <a:ln/>
        </p:spPr>
        <p:txBody>
          <a:bodyPr/>
          <a:lstStyle/>
          <a:p>
            <a:endParaRPr lang="en-IT"/>
          </a:p>
        </p:txBody>
      </p:sp>
      <p:sp>
        <p:nvSpPr>
          <p:cNvPr id="19" name="Text 17"/>
          <p:cNvSpPr txBox="1"/>
          <p:nvPr/>
        </p:nvSpPr>
        <p:spPr>
          <a:xfrm>
            <a:off x="7059168" y="3465576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8282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1100" dirty="0"/>
          </a:p>
        </p:txBody>
      </p:sp>
      <p:sp>
        <p:nvSpPr>
          <p:cNvPr id="20" name="Text 18"/>
          <p:cNvSpPr txBox="1"/>
          <p:nvPr/>
        </p:nvSpPr>
        <p:spPr>
          <a:xfrm>
            <a:off x="7013448" y="4160520"/>
            <a:ext cx="1645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2000"/>
              </a:lnSpc>
              <a:buNone/>
            </a:pPr>
            <a:r>
              <a:rPr lang="en-US" sz="1000" dirty="0">
                <a:solidFill>
                  <a:srgbClr val="8282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Similarity &amp;</a:t>
            </a:r>
            <a:endParaRPr lang="en-US" sz="1000" dirty="0"/>
          </a:p>
          <a:p>
            <a:pPr marL="0" indent="0" algn="ctr">
              <a:lnSpc>
                <a:spcPct val="102000"/>
              </a:lnSpc>
              <a:buNone/>
            </a:pPr>
            <a:r>
              <a:rPr lang="en-US" sz="1000" dirty="0">
                <a:solidFill>
                  <a:srgbClr val="8282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resolution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9459468" y="3858768"/>
            <a:ext cx="237744" cy="237744"/>
          </a:xfrm>
          <a:prstGeom prst="ellipse">
            <a:avLst/>
          </a:prstGeom>
          <a:solidFill>
            <a:srgbClr val="2E6E6A"/>
          </a:solidFill>
          <a:ln/>
        </p:spPr>
        <p:txBody>
          <a:bodyPr/>
          <a:lstStyle/>
          <a:p>
            <a:endParaRPr lang="en-IT"/>
          </a:p>
        </p:txBody>
      </p:sp>
      <p:sp>
        <p:nvSpPr>
          <p:cNvPr id="22" name="Text 20"/>
          <p:cNvSpPr txBox="1"/>
          <p:nvPr/>
        </p:nvSpPr>
        <p:spPr>
          <a:xfrm>
            <a:off x="8801100" y="3465576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E6E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1100" dirty="0"/>
          </a:p>
        </p:txBody>
      </p:sp>
      <p:sp>
        <p:nvSpPr>
          <p:cNvPr id="23" name="Text 21"/>
          <p:cNvSpPr txBox="1"/>
          <p:nvPr/>
        </p:nvSpPr>
        <p:spPr>
          <a:xfrm>
            <a:off x="8755380" y="4160520"/>
            <a:ext cx="1645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2000"/>
              </a:lnSpc>
              <a:buNone/>
            </a:pPr>
            <a:r>
              <a:rPr lang="en-US" sz="1000" b="1" dirty="0">
                <a:solidFill>
                  <a:srgbClr val="1A1A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Text2Cypher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11237976" y="3895344"/>
            <a:ext cx="164592" cy="164592"/>
          </a:xfrm>
          <a:prstGeom prst="ellipse">
            <a:avLst/>
          </a:prstGeom>
          <a:solidFill>
            <a:srgbClr val="F4F4F2"/>
          </a:solidFill>
          <a:ln w="15875">
            <a:solidFill>
              <a:srgbClr val="82827B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25" name="Text 23"/>
          <p:cNvSpPr txBox="1"/>
          <p:nvPr/>
        </p:nvSpPr>
        <p:spPr>
          <a:xfrm>
            <a:off x="10543032" y="3154680"/>
            <a:ext cx="1554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kern="0" spc="200" dirty="0">
                <a:solidFill>
                  <a:srgbClr val="2E6E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UP NEXT</a:t>
            </a:r>
            <a:endParaRPr lang="en-US" sz="750" dirty="0"/>
          </a:p>
        </p:txBody>
      </p:sp>
      <p:sp>
        <p:nvSpPr>
          <p:cNvPr id="26" name="Text 24"/>
          <p:cNvSpPr txBox="1"/>
          <p:nvPr/>
        </p:nvSpPr>
        <p:spPr>
          <a:xfrm>
            <a:off x="10543032" y="3465576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A1A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</a:t>
            </a:r>
            <a:endParaRPr lang="en-US" sz="1100" dirty="0"/>
          </a:p>
        </p:txBody>
      </p:sp>
      <p:sp>
        <p:nvSpPr>
          <p:cNvPr id="27" name="Text 25"/>
          <p:cNvSpPr txBox="1"/>
          <p:nvPr/>
        </p:nvSpPr>
        <p:spPr>
          <a:xfrm>
            <a:off x="10497312" y="4160520"/>
            <a:ext cx="1645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2000"/>
              </a:lnSpc>
              <a:buNone/>
            </a:pPr>
            <a:r>
              <a:rPr lang="en-US" sz="1000" dirty="0">
                <a:solidFill>
                  <a:srgbClr val="1A1A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Evaluation &amp;</a:t>
            </a:r>
            <a:endParaRPr lang="en-US" sz="1000" dirty="0"/>
          </a:p>
          <a:p>
            <a:pPr marL="0" indent="0" algn="ctr">
              <a:lnSpc>
                <a:spcPct val="102000"/>
              </a:lnSpc>
              <a:buNone/>
            </a:pPr>
            <a:r>
              <a:rPr lang="en-US" sz="1000" dirty="0">
                <a:solidFill>
                  <a:srgbClr val="1A1A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production</a:t>
            </a:r>
            <a:endParaRPr lang="en-US" sz="1000" dirty="0"/>
          </a:p>
        </p:txBody>
      </p:sp>
      <p:sp>
        <p:nvSpPr>
          <p:cNvPr id="28" name="Text 26"/>
          <p:cNvSpPr txBox="1"/>
          <p:nvPr/>
        </p:nvSpPr>
        <p:spPr>
          <a:xfrm>
            <a:off x="822960" y="5257800"/>
            <a:ext cx="10545775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1500" dirty="0">
                <a:solidFill>
                  <a:srgbClr val="8282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Up next — evaluation, and what production actually demands.</a:t>
            </a:r>
            <a:endParaRPr lang="en-US" sz="1500" dirty="0"/>
          </a:p>
        </p:txBody>
      </p:sp>
      <p:sp>
        <p:nvSpPr>
          <p:cNvPr id="29" name="Text 27"/>
          <p:cNvSpPr txBox="1"/>
          <p:nvPr/>
        </p:nvSpPr>
        <p:spPr>
          <a:xfrm>
            <a:off x="822960" y="64008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8282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Beyond GraphRAG</a:t>
            </a:r>
            <a:endParaRPr lang="en-US" sz="900" dirty="0"/>
          </a:p>
        </p:txBody>
      </p:sp>
      <p:sp>
        <p:nvSpPr>
          <p:cNvPr id="30" name="Text 28"/>
          <p:cNvSpPr txBox="1"/>
          <p:nvPr/>
        </p:nvSpPr>
        <p:spPr>
          <a:xfrm>
            <a:off x="5882335" y="64008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282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Module 06 · Recap</a:t>
            </a:r>
            <a:endParaRPr lang="en-US" sz="9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603504"/>
            <a:ext cx="105457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300" dirty="0">
                <a:solidFill>
                  <a:srgbClr val="8282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MODULE 07 · RECAP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1325880"/>
            <a:ext cx="1054577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30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We measured whether any of it worked.</a:t>
            </a:r>
            <a:endParaRPr lang="en-US" sz="3300" dirty="0"/>
          </a:p>
        </p:txBody>
      </p:sp>
      <p:sp>
        <p:nvSpPr>
          <p:cNvPr id="4" name="Text 2"/>
          <p:cNvSpPr txBox="1"/>
          <p:nvPr/>
        </p:nvSpPr>
        <p:spPr>
          <a:xfrm>
            <a:off x="822960" y="2286000"/>
            <a:ext cx="10545775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2000"/>
              </a:lnSpc>
              <a:spcAft>
                <a:spcPts val="1000"/>
              </a:spcAft>
              <a:buNone/>
            </a:pPr>
            <a:r>
              <a:rPr lang="en-US" sz="1650" dirty="0">
                <a:solidFill>
                  <a:srgbClr val="1A1A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  LLM-as-judge scores correctness, completeness, and grounding — multi-part questions decomposed into independently scored sub-claims.</a:t>
            </a:r>
            <a:endParaRPr lang="en-US" sz="1650" dirty="0"/>
          </a:p>
          <a:p>
            <a:pPr marL="0" indent="0" algn="l">
              <a:lnSpc>
                <a:spcPct val="122000"/>
              </a:lnSpc>
              <a:buNone/>
            </a:pPr>
            <a:r>
              <a:rPr lang="en-US" sz="1650" dirty="0">
                <a:solidFill>
                  <a:srgbClr val="1A1A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  Bias fixes: an anchored 1/3/5 rubric, and rationale written before the score — so the number follows the reasoning, not the reverse.</a:t>
            </a:r>
            <a:endParaRPr lang="en-US" sz="165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4023360"/>
            <a:ext cx="10058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1600" dirty="0">
                <a:solidFill>
                  <a:srgbClr val="8282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Evaluation ran through the whole build — “did this layer actually help?” — and is consolidated here.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5943600"/>
            <a:ext cx="105457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i="1" dirty="0">
                <a:solidFill>
                  <a:srgbClr val="8282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LLM-as-judge — using an LLM to grade another system's answers against explicit criteria.</a:t>
            </a:r>
            <a:endParaRPr lang="en-US" sz="105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64008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8282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Beyond GraphRAG</a:t>
            </a:r>
            <a:endParaRPr lang="en-US" sz="900" dirty="0"/>
          </a:p>
        </p:txBody>
      </p:sp>
      <p:sp>
        <p:nvSpPr>
          <p:cNvPr id="8" name="Text 6"/>
          <p:cNvSpPr txBox="1"/>
          <p:nvPr/>
        </p:nvSpPr>
        <p:spPr>
          <a:xfrm>
            <a:off x="5882335" y="64008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282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Module 07 · Recap</a:t>
            </a:r>
            <a:endParaRPr lang="en-US" sz="9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603504"/>
            <a:ext cx="105457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300" dirty="0">
                <a:solidFill>
                  <a:srgbClr val="8282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NOW WHAT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1417320"/>
            <a:ext cx="1054577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60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Running it for real.</a:t>
            </a:r>
            <a:endParaRPr lang="en-US" sz="3600" dirty="0"/>
          </a:p>
        </p:txBody>
      </p:sp>
      <p:sp>
        <p:nvSpPr>
          <p:cNvPr id="4" name="Text 2"/>
          <p:cNvSpPr txBox="1"/>
          <p:nvPr/>
        </p:nvSpPr>
        <p:spPr>
          <a:xfrm>
            <a:off x="822960" y="2743200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10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Monitoring</a:t>
            </a:r>
            <a:endParaRPr lang="en-US" sz="2100" dirty="0"/>
          </a:p>
        </p:txBody>
      </p:sp>
      <p:sp>
        <p:nvSpPr>
          <p:cNvPr id="5" name="Text 3"/>
          <p:cNvSpPr txBox="1"/>
          <p:nvPr/>
        </p:nvSpPr>
        <p:spPr>
          <a:xfrm>
            <a:off x="2606040" y="2743200"/>
            <a:ext cx="274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100" dirty="0">
                <a:solidFill>
                  <a:srgbClr val="2E6E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·</a:t>
            </a:r>
            <a:endParaRPr lang="en-US" sz="2100" dirty="0"/>
          </a:p>
        </p:txBody>
      </p:sp>
      <p:sp>
        <p:nvSpPr>
          <p:cNvPr id="6" name="Text 4"/>
          <p:cNvSpPr txBox="1"/>
          <p:nvPr/>
        </p:nvSpPr>
        <p:spPr>
          <a:xfrm>
            <a:off x="3108960" y="2743200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10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Graph refresh</a:t>
            </a:r>
            <a:endParaRPr lang="en-US" sz="2100" dirty="0"/>
          </a:p>
        </p:txBody>
      </p:sp>
      <p:sp>
        <p:nvSpPr>
          <p:cNvPr id="7" name="Text 5"/>
          <p:cNvSpPr txBox="1"/>
          <p:nvPr/>
        </p:nvSpPr>
        <p:spPr>
          <a:xfrm>
            <a:off x="5330952" y="2743200"/>
            <a:ext cx="274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100" dirty="0">
                <a:solidFill>
                  <a:srgbClr val="2E6E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·</a:t>
            </a:r>
            <a:endParaRPr lang="en-US" sz="2100" dirty="0"/>
          </a:p>
        </p:txBody>
      </p:sp>
      <p:sp>
        <p:nvSpPr>
          <p:cNvPr id="8" name="Text 6"/>
          <p:cNvSpPr txBox="1"/>
          <p:nvPr/>
        </p:nvSpPr>
        <p:spPr>
          <a:xfrm>
            <a:off x="5833872" y="2743200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10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Cost</a:t>
            </a:r>
            <a:endParaRPr lang="en-US" sz="2100" dirty="0"/>
          </a:p>
        </p:txBody>
      </p:sp>
      <p:sp>
        <p:nvSpPr>
          <p:cNvPr id="9" name="Text 7"/>
          <p:cNvSpPr txBox="1"/>
          <p:nvPr/>
        </p:nvSpPr>
        <p:spPr>
          <a:xfrm>
            <a:off x="6739128" y="2743200"/>
            <a:ext cx="274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100" dirty="0">
                <a:solidFill>
                  <a:srgbClr val="2E6E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·</a:t>
            </a:r>
            <a:endParaRPr lang="en-US" sz="2100" dirty="0"/>
          </a:p>
        </p:txBody>
      </p:sp>
      <p:sp>
        <p:nvSpPr>
          <p:cNvPr id="10" name="Text 8"/>
          <p:cNvSpPr txBox="1"/>
          <p:nvPr/>
        </p:nvSpPr>
        <p:spPr>
          <a:xfrm>
            <a:off x="7242048" y="2743200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10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Governance</a:t>
            </a:r>
            <a:endParaRPr lang="en-US" sz="2100" dirty="0"/>
          </a:p>
        </p:txBody>
      </p:sp>
      <p:sp>
        <p:nvSpPr>
          <p:cNvPr id="11" name="Text 9"/>
          <p:cNvSpPr txBox="1"/>
          <p:nvPr/>
        </p:nvSpPr>
        <p:spPr>
          <a:xfrm>
            <a:off x="822960" y="3749040"/>
            <a:ext cx="10058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1650" dirty="0">
                <a:solidFill>
                  <a:srgbClr val="8282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considerations that separate a course demo from a financial decision-support system in production.</a:t>
            </a:r>
            <a:endParaRPr lang="en-US" sz="1650" dirty="0"/>
          </a:p>
        </p:txBody>
      </p:sp>
      <p:sp>
        <p:nvSpPr>
          <p:cNvPr id="12" name="Text 10"/>
          <p:cNvSpPr txBox="1"/>
          <p:nvPr/>
        </p:nvSpPr>
        <p:spPr>
          <a:xfrm>
            <a:off x="822960" y="64008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8282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Beyond GraphRAG</a:t>
            </a:r>
            <a:endParaRPr lang="en-US" sz="900" dirty="0"/>
          </a:p>
        </p:txBody>
      </p:sp>
      <p:sp>
        <p:nvSpPr>
          <p:cNvPr id="13" name="Text 11"/>
          <p:cNvSpPr txBox="1"/>
          <p:nvPr/>
        </p:nvSpPr>
        <p:spPr>
          <a:xfrm>
            <a:off x="5882335" y="64008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282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Module 07 · Recap</a:t>
            </a:r>
            <a:endParaRPr lang="en-US" sz="9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603504"/>
            <a:ext cx="105457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300" dirty="0">
                <a:solidFill>
                  <a:srgbClr val="8282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SYNTHESIS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1417320"/>
            <a:ext cx="10424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40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</a:t>
            </a:r>
            <a:r>
              <a:rPr lang="en-US" sz="3400" dirty="0">
                <a:solidFill>
                  <a:srgbClr val="2E6E6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flexible</a:t>
            </a:r>
            <a:r>
              <a:rPr lang="en-US" sz="340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agent over an </a:t>
            </a:r>
            <a:r>
              <a:rPr lang="en-US" sz="3400" dirty="0">
                <a:solidFill>
                  <a:srgbClr val="2E6E6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extensible</a:t>
            </a:r>
            <a:r>
              <a:rPr lang="en-US" sz="340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graph.</a:t>
            </a:r>
            <a:endParaRPr lang="en-US" sz="3400" dirty="0"/>
          </a:p>
        </p:txBody>
      </p:sp>
      <p:sp>
        <p:nvSpPr>
          <p:cNvPr id="4" name="Text 2"/>
          <p:cNvSpPr txBox="1"/>
          <p:nvPr/>
        </p:nvSpPr>
        <p:spPr>
          <a:xfrm>
            <a:off x="822960" y="2743200"/>
            <a:ext cx="102412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1650" dirty="0">
                <a:solidFill>
                  <a:srgbClr val="1A1A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Agentic RAG gave us flexibility in how we retrieve — choose a tool, use it, grade the result, retry. The knowledge graph gave us expansibility in what there is to retrieve — every module added new structure, and the same agent used it the moment it landed.</a:t>
            </a:r>
            <a:endParaRPr lang="en-US" sz="1650" dirty="0"/>
          </a:p>
        </p:txBody>
      </p:sp>
      <p:sp>
        <p:nvSpPr>
          <p:cNvPr id="5" name="Shape 3"/>
          <p:cNvSpPr/>
          <p:nvPr/>
        </p:nvSpPr>
        <p:spPr>
          <a:xfrm>
            <a:off x="1572768" y="4617720"/>
            <a:ext cx="2651760" cy="658368"/>
          </a:xfrm>
          <a:prstGeom prst="roundRect">
            <a:avLst>
              <a:gd name="adj" fmla="val 8333"/>
            </a:avLst>
          </a:prstGeom>
          <a:solidFill>
            <a:srgbClr val="F4F4F2"/>
          </a:solidFill>
          <a:ln w="15240">
            <a:solidFill>
              <a:srgbClr val="D3D3CE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6" name="Text 4"/>
          <p:cNvSpPr txBox="1"/>
          <p:nvPr/>
        </p:nvSpPr>
        <p:spPr>
          <a:xfrm>
            <a:off x="1572768" y="4636008"/>
            <a:ext cx="26517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Agentic RAG</a:t>
            </a:r>
            <a:endParaRPr lang="en-US" sz="1700" dirty="0"/>
          </a:p>
        </p:txBody>
      </p:sp>
      <p:sp>
        <p:nvSpPr>
          <p:cNvPr id="7" name="Text 5"/>
          <p:cNvSpPr txBox="1"/>
          <p:nvPr/>
        </p:nvSpPr>
        <p:spPr>
          <a:xfrm>
            <a:off x="1572768" y="5367528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8282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flexible retrieval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773168" y="4617720"/>
            <a:ext cx="2651760" cy="658368"/>
          </a:xfrm>
          <a:prstGeom prst="roundRect">
            <a:avLst>
              <a:gd name="adj" fmla="val 8333"/>
            </a:avLst>
          </a:prstGeom>
          <a:solidFill>
            <a:srgbClr val="F4F4F2"/>
          </a:solidFill>
          <a:ln w="15240">
            <a:solidFill>
              <a:srgbClr val="D3D3CE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9" name="Text 7"/>
          <p:cNvSpPr txBox="1"/>
          <p:nvPr/>
        </p:nvSpPr>
        <p:spPr>
          <a:xfrm>
            <a:off x="4773168" y="4636008"/>
            <a:ext cx="26517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Knowledge graph</a:t>
            </a:r>
            <a:endParaRPr lang="en-US" sz="1700" dirty="0"/>
          </a:p>
        </p:txBody>
      </p:sp>
      <p:sp>
        <p:nvSpPr>
          <p:cNvPr id="10" name="Text 8"/>
          <p:cNvSpPr txBox="1"/>
          <p:nvPr/>
        </p:nvSpPr>
        <p:spPr>
          <a:xfrm>
            <a:off x="4773168" y="5367528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8282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extensible structure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7973568" y="4617720"/>
            <a:ext cx="2651760" cy="658368"/>
          </a:xfrm>
          <a:prstGeom prst="roundRect">
            <a:avLst>
              <a:gd name="adj" fmla="val 8333"/>
            </a:avLst>
          </a:prstGeom>
          <a:solidFill>
            <a:srgbClr val="F4F4F2"/>
          </a:solidFill>
          <a:ln w="15240">
            <a:solidFill>
              <a:srgbClr val="D3D3CE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12" name="Text 10"/>
          <p:cNvSpPr txBox="1"/>
          <p:nvPr/>
        </p:nvSpPr>
        <p:spPr>
          <a:xfrm>
            <a:off x="7973568" y="4636008"/>
            <a:ext cx="26517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Explainable advisor</a:t>
            </a:r>
            <a:endParaRPr lang="en-US" sz="1700" dirty="0"/>
          </a:p>
        </p:txBody>
      </p:sp>
      <p:sp>
        <p:nvSpPr>
          <p:cNvPr id="13" name="Text 11"/>
          <p:cNvSpPr txBox="1"/>
          <p:nvPr/>
        </p:nvSpPr>
        <p:spPr>
          <a:xfrm>
            <a:off x="7973568" y="5367528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8282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answers you can trace</a:t>
            </a:r>
            <a:endParaRPr lang="en-US" sz="1100" dirty="0"/>
          </a:p>
        </p:txBody>
      </p:sp>
      <p:sp>
        <p:nvSpPr>
          <p:cNvPr id="14" name="Text 12"/>
          <p:cNvSpPr txBox="1"/>
          <p:nvPr/>
        </p:nvSpPr>
        <p:spPr>
          <a:xfrm>
            <a:off x="4224528" y="4617720"/>
            <a:ext cx="548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2E6E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</a:t>
            </a:r>
            <a:endParaRPr lang="en-US" sz="2200" dirty="0"/>
          </a:p>
        </p:txBody>
      </p:sp>
      <p:sp>
        <p:nvSpPr>
          <p:cNvPr id="15" name="Text 13"/>
          <p:cNvSpPr txBox="1"/>
          <p:nvPr/>
        </p:nvSpPr>
        <p:spPr>
          <a:xfrm>
            <a:off x="7424928" y="4617720"/>
            <a:ext cx="548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2E6E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000" dirty="0"/>
          </a:p>
        </p:txBody>
      </p:sp>
      <p:sp>
        <p:nvSpPr>
          <p:cNvPr id="16" name="Text 14"/>
          <p:cNvSpPr txBox="1"/>
          <p:nvPr/>
        </p:nvSpPr>
        <p:spPr>
          <a:xfrm>
            <a:off x="822960" y="64008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8282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Beyond GraphRAG</a:t>
            </a:r>
            <a:endParaRPr lang="en-US" sz="900" dirty="0"/>
          </a:p>
        </p:txBody>
      </p:sp>
      <p:sp>
        <p:nvSpPr>
          <p:cNvPr id="17" name="Text 15"/>
          <p:cNvSpPr txBox="1"/>
          <p:nvPr/>
        </p:nvSpPr>
        <p:spPr>
          <a:xfrm>
            <a:off x="5882335" y="64008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282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Conclusion</a:t>
            </a:r>
            <a:endParaRPr lang="en-US" sz="9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603504"/>
            <a:ext cx="105457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300" dirty="0">
                <a:solidFill>
                  <a:srgbClr val="8282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WHERE WE STARTED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1417320"/>
            <a:ext cx="104241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00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questions that defeated plain RAG — now in reach.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822960" y="2880360"/>
            <a:ext cx="10058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1650" dirty="0">
                <a:solidFill>
                  <a:srgbClr val="8282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Each hard question needed a different capability, and each got one: a tool to ask with, and the graph structure to answer from.</a:t>
            </a:r>
            <a:endParaRPr lang="en-US" sz="165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3703320"/>
            <a:ext cx="10545775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2000"/>
              </a:lnSpc>
              <a:spcAft>
                <a:spcPts val="1000"/>
              </a:spcAft>
              <a:buNone/>
            </a:pPr>
            <a:r>
              <a:rPr lang="en-US" sz="1550" dirty="0">
                <a:solidFill>
                  <a:srgbClr val="1A1A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  Multi-hop — traverse people, roles, and companies, not just similar text.</a:t>
            </a:r>
            <a:endParaRPr lang="en-US" sz="1550" dirty="0"/>
          </a:p>
          <a:p>
            <a:pPr marL="0" indent="0" algn="l">
              <a:lnSpc>
                <a:spcPct val="122000"/>
              </a:lnSpc>
              <a:spcAft>
                <a:spcPts val="1000"/>
              </a:spcAft>
              <a:buNone/>
            </a:pPr>
            <a:r>
              <a:rPr lang="en-US" sz="1550" dirty="0">
                <a:solidFill>
                  <a:srgbClr val="1A1A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  Cross-document &amp; cross-company — links that live in the graph, discovered once and reused.</a:t>
            </a:r>
            <a:endParaRPr lang="en-US" sz="1550" dirty="0"/>
          </a:p>
          <a:p>
            <a:pPr marL="0" indent="0" algn="l">
              <a:lnSpc>
                <a:spcPct val="122000"/>
              </a:lnSpc>
              <a:spcAft>
                <a:spcPts val="1000"/>
              </a:spcAft>
              <a:buNone/>
            </a:pPr>
            <a:r>
              <a:rPr lang="en-US" sz="1550" dirty="0">
                <a:solidFill>
                  <a:srgbClr val="1A1A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  Comparison — structured financials and events, side by side.</a:t>
            </a:r>
            <a:endParaRPr lang="en-US" sz="1550" dirty="0"/>
          </a:p>
          <a:p>
            <a:pPr marL="0" indent="0" algn="l">
              <a:lnSpc>
                <a:spcPct val="122000"/>
              </a:lnSpc>
              <a:buNone/>
            </a:pPr>
            <a:r>
              <a:rPr lang="en-US" sz="1550" dirty="0">
                <a:solidFill>
                  <a:srgbClr val="1A1A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  Change over time — filings and periods anchored so shifts are queryable.</a:t>
            </a:r>
            <a:endParaRPr lang="en-US" sz="155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64008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8282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Beyond GraphRAG</a:t>
            </a:r>
            <a:endParaRPr lang="en-US" sz="900" dirty="0"/>
          </a:p>
        </p:txBody>
      </p:sp>
      <p:sp>
        <p:nvSpPr>
          <p:cNvPr id="7" name="Text 5"/>
          <p:cNvSpPr txBox="1"/>
          <p:nvPr/>
        </p:nvSpPr>
        <p:spPr>
          <a:xfrm>
            <a:off x="5882335" y="64008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282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Conclusion</a:t>
            </a:r>
            <a:endParaRPr lang="en-US" sz="90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603504"/>
            <a:ext cx="105457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300" dirty="0">
                <a:solidFill>
                  <a:srgbClr val="8282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PATH, COMPLETE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1554480"/>
            <a:ext cx="1054577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00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Seven layers, built and used.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868680" y="3977640"/>
            <a:ext cx="10451592" cy="0"/>
          </a:xfrm>
          <a:prstGeom prst="line">
            <a:avLst/>
          </a:prstGeom>
          <a:noFill/>
          <a:ln w="12700">
            <a:solidFill>
              <a:srgbClr val="D3D3CE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5" name="Shape 3"/>
          <p:cNvSpPr/>
          <p:nvPr/>
        </p:nvSpPr>
        <p:spPr>
          <a:xfrm>
            <a:off x="868680" y="3977640"/>
            <a:ext cx="10451592" cy="0"/>
          </a:xfrm>
          <a:prstGeom prst="line">
            <a:avLst/>
          </a:prstGeom>
          <a:noFill/>
          <a:ln w="19050">
            <a:solidFill>
              <a:srgbClr val="1A1A18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6" name="Shape 4"/>
          <p:cNvSpPr/>
          <p:nvPr/>
        </p:nvSpPr>
        <p:spPr>
          <a:xfrm>
            <a:off x="795528" y="3904488"/>
            <a:ext cx="146304" cy="146304"/>
          </a:xfrm>
          <a:prstGeom prst="ellipse">
            <a:avLst/>
          </a:prstGeom>
          <a:solidFill>
            <a:srgbClr val="1A1A18"/>
          </a:solidFill>
          <a:ln/>
        </p:spPr>
        <p:txBody>
          <a:bodyPr/>
          <a:lstStyle/>
          <a:p>
            <a:endParaRPr lang="en-IT"/>
          </a:p>
        </p:txBody>
      </p:sp>
      <p:sp>
        <p:nvSpPr>
          <p:cNvPr id="7" name="Text 5"/>
          <p:cNvSpPr txBox="1"/>
          <p:nvPr/>
        </p:nvSpPr>
        <p:spPr>
          <a:xfrm>
            <a:off x="91440" y="3465576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8282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100" dirty="0"/>
          </a:p>
        </p:txBody>
      </p:sp>
      <p:sp>
        <p:nvSpPr>
          <p:cNvPr id="8" name="Text 6"/>
          <p:cNvSpPr txBox="1"/>
          <p:nvPr/>
        </p:nvSpPr>
        <p:spPr>
          <a:xfrm>
            <a:off x="45720" y="4160520"/>
            <a:ext cx="1645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2000"/>
              </a:lnSpc>
              <a:buNone/>
            </a:pPr>
            <a:r>
              <a:rPr lang="en-US" sz="1000" dirty="0">
                <a:solidFill>
                  <a:srgbClr val="8282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Baseline</a:t>
            </a:r>
            <a:endParaRPr lang="en-US" sz="1000" dirty="0"/>
          </a:p>
          <a:p>
            <a:pPr marL="0" indent="0" algn="ctr">
              <a:lnSpc>
                <a:spcPct val="102000"/>
              </a:lnSpc>
              <a:buNone/>
            </a:pPr>
            <a:r>
              <a:rPr lang="en-US" sz="1000" dirty="0">
                <a:solidFill>
                  <a:srgbClr val="8282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RAG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2537460" y="3904488"/>
            <a:ext cx="146304" cy="146304"/>
          </a:xfrm>
          <a:prstGeom prst="ellipse">
            <a:avLst/>
          </a:prstGeom>
          <a:solidFill>
            <a:srgbClr val="1A1A18"/>
          </a:solidFill>
          <a:ln/>
        </p:spPr>
        <p:txBody>
          <a:bodyPr/>
          <a:lstStyle/>
          <a:p>
            <a:endParaRPr lang="en-IT"/>
          </a:p>
        </p:txBody>
      </p:sp>
      <p:sp>
        <p:nvSpPr>
          <p:cNvPr id="10" name="Text 8"/>
          <p:cNvSpPr txBox="1"/>
          <p:nvPr/>
        </p:nvSpPr>
        <p:spPr>
          <a:xfrm>
            <a:off x="1833372" y="3465576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8282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100" dirty="0"/>
          </a:p>
        </p:txBody>
      </p:sp>
      <p:sp>
        <p:nvSpPr>
          <p:cNvPr id="11" name="Text 9"/>
          <p:cNvSpPr txBox="1"/>
          <p:nvPr/>
        </p:nvSpPr>
        <p:spPr>
          <a:xfrm>
            <a:off x="1787652" y="4160520"/>
            <a:ext cx="1645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2000"/>
              </a:lnSpc>
              <a:buNone/>
            </a:pPr>
            <a:r>
              <a:rPr lang="en-US" sz="1000" dirty="0">
                <a:solidFill>
                  <a:srgbClr val="8282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Agentic</a:t>
            </a:r>
            <a:endParaRPr lang="en-US" sz="1000" dirty="0"/>
          </a:p>
          <a:p>
            <a:pPr marL="0" indent="0" algn="ctr">
              <a:lnSpc>
                <a:spcPct val="102000"/>
              </a:lnSpc>
              <a:buNone/>
            </a:pPr>
            <a:r>
              <a:rPr lang="en-US" sz="1000" dirty="0">
                <a:solidFill>
                  <a:srgbClr val="8282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retrieval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279392" y="3904488"/>
            <a:ext cx="146304" cy="146304"/>
          </a:xfrm>
          <a:prstGeom prst="ellipse">
            <a:avLst/>
          </a:prstGeom>
          <a:solidFill>
            <a:srgbClr val="1A1A18"/>
          </a:solidFill>
          <a:ln/>
        </p:spPr>
        <p:txBody>
          <a:bodyPr/>
          <a:lstStyle/>
          <a:p>
            <a:endParaRPr lang="en-IT"/>
          </a:p>
        </p:txBody>
      </p:sp>
      <p:sp>
        <p:nvSpPr>
          <p:cNvPr id="13" name="Text 11"/>
          <p:cNvSpPr txBox="1"/>
          <p:nvPr/>
        </p:nvSpPr>
        <p:spPr>
          <a:xfrm>
            <a:off x="3575304" y="3465576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8282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100" dirty="0"/>
          </a:p>
        </p:txBody>
      </p:sp>
      <p:sp>
        <p:nvSpPr>
          <p:cNvPr id="14" name="Text 12"/>
          <p:cNvSpPr txBox="1"/>
          <p:nvPr/>
        </p:nvSpPr>
        <p:spPr>
          <a:xfrm>
            <a:off x="3529584" y="4160520"/>
            <a:ext cx="1645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2000"/>
              </a:lnSpc>
              <a:buNone/>
            </a:pPr>
            <a:r>
              <a:rPr lang="en-US" sz="1000" dirty="0">
                <a:solidFill>
                  <a:srgbClr val="8282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Structured</a:t>
            </a:r>
            <a:endParaRPr lang="en-US" sz="1000" dirty="0"/>
          </a:p>
          <a:p>
            <a:pPr marL="0" indent="0" algn="ctr">
              <a:lnSpc>
                <a:spcPct val="102000"/>
              </a:lnSpc>
              <a:buNone/>
            </a:pPr>
            <a:r>
              <a:rPr lang="en-US" sz="1000" dirty="0">
                <a:solidFill>
                  <a:srgbClr val="8282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enrichment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6021324" y="3904488"/>
            <a:ext cx="146304" cy="146304"/>
          </a:xfrm>
          <a:prstGeom prst="ellipse">
            <a:avLst/>
          </a:prstGeom>
          <a:solidFill>
            <a:srgbClr val="1A1A18"/>
          </a:solidFill>
          <a:ln/>
        </p:spPr>
        <p:txBody>
          <a:bodyPr/>
          <a:lstStyle/>
          <a:p>
            <a:endParaRPr lang="en-IT"/>
          </a:p>
        </p:txBody>
      </p:sp>
      <p:sp>
        <p:nvSpPr>
          <p:cNvPr id="16" name="Text 14"/>
          <p:cNvSpPr txBox="1"/>
          <p:nvPr/>
        </p:nvSpPr>
        <p:spPr>
          <a:xfrm>
            <a:off x="5317236" y="3465576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8282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100" dirty="0"/>
          </a:p>
        </p:txBody>
      </p:sp>
      <p:sp>
        <p:nvSpPr>
          <p:cNvPr id="17" name="Text 15"/>
          <p:cNvSpPr txBox="1"/>
          <p:nvPr/>
        </p:nvSpPr>
        <p:spPr>
          <a:xfrm>
            <a:off x="5271516" y="4160520"/>
            <a:ext cx="1645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2000"/>
              </a:lnSpc>
              <a:buNone/>
            </a:pPr>
            <a:r>
              <a:rPr lang="en-US" sz="1000" dirty="0">
                <a:solidFill>
                  <a:srgbClr val="8282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LLM</a:t>
            </a:r>
            <a:endParaRPr lang="en-US" sz="1000" dirty="0"/>
          </a:p>
          <a:p>
            <a:pPr marL="0" indent="0" algn="ctr">
              <a:lnSpc>
                <a:spcPct val="102000"/>
              </a:lnSpc>
              <a:buNone/>
            </a:pPr>
            <a:r>
              <a:rPr lang="en-US" sz="1000" dirty="0">
                <a:solidFill>
                  <a:srgbClr val="8282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extraction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7763256" y="3904488"/>
            <a:ext cx="146304" cy="146304"/>
          </a:xfrm>
          <a:prstGeom prst="ellipse">
            <a:avLst/>
          </a:prstGeom>
          <a:solidFill>
            <a:srgbClr val="1A1A18"/>
          </a:solidFill>
          <a:ln/>
        </p:spPr>
        <p:txBody>
          <a:bodyPr/>
          <a:lstStyle/>
          <a:p>
            <a:endParaRPr lang="en-IT"/>
          </a:p>
        </p:txBody>
      </p:sp>
      <p:sp>
        <p:nvSpPr>
          <p:cNvPr id="19" name="Text 17"/>
          <p:cNvSpPr txBox="1"/>
          <p:nvPr/>
        </p:nvSpPr>
        <p:spPr>
          <a:xfrm>
            <a:off x="7059168" y="3465576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8282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1100" dirty="0"/>
          </a:p>
        </p:txBody>
      </p:sp>
      <p:sp>
        <p:nvSpPr>
          <p:cNvPr id="20" name="Text 18"/>
          <p:cNvSpPr txBox="1"/>
          <p:nvPr/>
        </p:nvSpPr>
        <p:spPr>
          <a:xfrm>
            <a:off x="7013448" y="4160520"/>
            <a:ext cx="1645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2000"/>
              </a:lnSpc>
              <a:buNone/>
            </a:pPr>
            <a:r>
              <a:rPr lang="en-US" sz="1000" dirty="0">
                <a:solidFill>
                  <a:srgbClr val="8282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Similarity &amp;</a:t>
            </a:r>
            <a:endParaRPr lang="en-US" sz="1000" dirty="0"/>
          </a:p>
          <a:p>
            <a:pPr marL="0" indent="0" algn="ctr">
              <a:lnSpc>
                <a:spcPct val="102000"/>
              </a:lnSpc>
              <a:buNone/>
            </a:pPr>
            <a:r>
              <a:rPr lang="en-US" sz="1000" dirty="0">
                <a:solidFill>
                  <a:srgbClr val="8282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resolution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9505188" y="3904488"/>
            <a:ext cx="146304" cy="146304"/>
          </a:xfrm>
          <a:prstGeom prst="ellipse">
            <a:avLst/>
          </a:prstGeom>
          <a:solidFill>
            <a:srgbClr val="1A1A18"/>
          </a:solidFill>
          <a:ln/>
        </p:spPr>
        <p:txBody>
          <a:bodyPr/>
          <a:lstStyle/>
          <a:p>
            <a:endParaRPr lang="en-IT"/>
          </a:p>
        </p:txBody>
      </p:sp>
      <p:sp>
        <p:nvSpPr>
          <p:cNvPr id="22" name="Text 20"/>
          <p:cNvSpPr txBox="1"/>
          <p:nvPr/>
        </p:nvSpPr>
        <p:spPr>
          <a:xfrm>
            <a:off x="8801100" y="3465576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8282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1100" dirty="0"/>
          </a:p>
        </p:txBody>
      </p:sp>
      <p:sp>
        <p:nvSpPr>
          <p:cNvPr id="23" name="Text 21"/>
          <p:cNvSpPr txBox="1"/>
          <p:nvPr/>
        </p:nvSpPr>
        <p:spPr>
          <a:xfrm>
            <a:off x="8755380" y="4160520"/>
            <a:ext cx="1645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2000"/>
              </a:lnSpc>
              <a:buNone/>
            </a:pPr>
            <a:r>
              <a:rPr lang="en-US" sz="1000" dirty="0">
                <a:solidFill>
                  <a:srgbClr val="8282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Text2Cypher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11201400" y="3858768"/>
            <a:ext cx="237744" cy="237744"/>
          </a:xfrm>
          <a:prstGeom prst="ellipse">
            <a:avLst/>
          </a:prstGeom>
          <a:solidFill>
            <a:srgbClr val="2E6E6A"/>
          </a:solidFill>
          <a:ln/>
        </p:spPr>
        <p:txBody>
          <a:bodyPr/>
          <a:lstStyle/>
          <a:p>
            <a:endParaRPr lang="en-IT"/>
          </a:p>
        </p:txBody>
      </p:sp>
      <p:sp>
        <p:nvSpPr>
          <p:cNvPr id="25" name="Text 23"/>
          <p:cNvSpPr txBox="1"/>
          <p:nvPr/>
        </p:nvSpPr>
        <p:spPr>
          <a:xfrm>
            <a:off x="10543032" y="3465576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E6E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</a:t>
            </a:r>
            <a:endParaRPr lang="en-US" sz="1100" dirty="0"/>
          </a:p>
        </p:txBody>
      </p:sp>
      <p:sp>
        <p:nvSpPr>
          <p:cNvPr id="26" name="Text 24"/>
          <p:cNvSpPr txBox="1"/>
          <p:nvPr/>
        </p:nvSpPr>
        <p:spPr>
          <a:xfrm>
            <a:off x="10497312" y="4160520"/>
            <a:ext cx="1645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2000"/>
              </a:lnSpc>
              <a:buNone/>
            </a:pPr>
            <a:r>
              <a:rPr lang="en-US" sz="1000" b="1" dirty="0">
                <a:solidFill>
                  <a:srgbClr val="1A1A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Evaluation &amp;</a:t>
            </a:r>
            <a:endParaRPr lang="en-US" sz="1000" dirty="0"/>
          </a:p>
          <a:p>
            <a:pPr marL="0" indent="0" algn="ctr">
              <a:lnSpc>
                <a:spcPct val="102000"/>
              </a:lnSpc>
              <a:buNone/>
            </a:pPr>
            <a:r>
              <a:rPr lang="en-US" sz="1000" b="1" dirty="0">
                <a:solidFill>
                  <a:srgbClr val="1A1A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production</a:t>
            </a:r>
            <a:endParaRPr lang="en-US" sz="1000" dirty="0"/>
          </a:p>
        </p:txBody>
      </p:sp>
      <p:sp>
        <p:nvSpPr>
          <p:cNvPr id="27" name="Text 25"/>
          <p:cNvSpPr txBox="1"/>
          <p:nvPr/>
        </p:nvSpPr>
        <p:spPr>
          <a:xfrm>
            <a:off x="822960" y="5257800"/>
            <a:ext cx="10058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1600" i="1" dirty="0">
                <a:solidFill>
                  <a:srgbClr val="1A1A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 explainable financial advisor, grown one layer at a time.</a:t>
            </a:r>
            <a:endParaRPr lang="en-US" sz="1600" dirty="0"/>
          </a:p>
        </p:txBody>
      </p:sp>
      <p:sp>
        <p:nvSpPr>
          <p:cNvPr id="28" name="Text 26"/>
          <p:cNvSpPr txBox="1"/>
          <p:nvPr/>
        </p:nvSpPr>
        <p:spPr>
          <a:xfrm>
            <a:off x="822960" y="580644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A1A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Alessandro Negro</a:t>
            </a:r>
            <a:r>
              <a:rPr lang="en-US" sz="1200" dirty="0">
                <a:solidFill>
                  <a:srgbClr val="8282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·   Chief Scientist, GraphAware</a:t>
            </a:r>
            <a:endParaRPr lang="en-US" sz="1200" dirty="0"/>
          </a:p>
        </p:txBody>
      </p:sp>
      <p:sp>
        <p:nvSpPr>
          <p:cNvPr id="29" name="Text 27"/>
          <p:cNvSpPr txBox="1"/>
          <p:nvPr/>
        </p:nvSpPr>
        <p:spPr>
          <a:xfrm>
            <a:off x="822960" y="64008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8282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Beyond GraphRAG</a:t>
            </a:r>
            <a:endParaRPr lang="en-US" sz="900" dirty="0"/>
          </a:p>
        </p:txBody>
      </p:sp>
      <p:sp>
        <p:nvSpPr>
          <p:cNvPr id="30" name="Text 28"/>
          <p:cNvSpPr txBox="1"/>
          <p:nvPr/>
        </p:nvSpPr>
        <p:spPr>
          <a:xfrm>
            <a:off x="5882335" y="64008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282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Conclusion</a:t>
            </a:r>
            <a:endParaRPr lang="en-US" sz="90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>
            <a:extLst>
              <a:ext uri="{FF2B5EF4-FFF2-40B4-BE49-F238E27FC236}">
                <a16:creationId xmlns:a16="http://schemas.microsoft.com/office/drawing/2014/main" id="{BE269072-BCC7-83B6-CF7C-B5A54799C24B}"/>
              </a:ext>
            </a:extLst>
          </p:cNvPr>
          <p:cNvSpPr txBox="1"/>
          <p:nvPr/>
        </p:nvSpPr>
        <p:spPr>
          <a:xfrm>
            <a:off x="4189949" y="2965756"/>
            <a:ext cx="3812102" cy="92648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600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You!</a:t>
            </a:r>
            <a:endParaRPr lang="en-US" sz="6000" dirty="0"/>
          </a:p>
        </p:txBody>
      </p:sp>
    </p:spTree>
    <p:extLst>
      <p:ext uri="{BB962C8B-B14F-4D97-AF65-F5344CB8AC3E}">
        <p14:creationId xmlns:p14="http://schemas.microsoft.com/office/powerpoint/2010/main" val="101716214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5680</TotalTime>
  <Words>3864</Words>
  <Application>Microsoft Macintosh PowerPoint</Application>
  <PresentationFormat>Widescreen</PresentationFormat>
  <Paragraphs>525</Paragraphs>
  <Slides>35</Slides>
  <Notes>34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35</vt:i4>
      </vt:variant>
    </vt:vector>
  </HeadingPairs>
  <TitlesOfParts>
    <vt:vector size="38" baseType="lpstr">
      <vt:lpstr>Arial</vt:lpstr>
      <vt:lpstr>Cambria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GraphAware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Alessandro Negro</dc:creator>
  <cp:lastModifiedBy>Alessandro Negro</cp:lastModifiedBy>
  <cp:revision>9</cp:revision>
  <dcterms:created xsi:type="dcterms:W3CDTF">2026-09-14T17:06:02Z</dcterms:created>
  <dcterms:modified xsi:type="dcterms:W3CDTF">2026-09-18T15:52:21Z</dcterms:modified>
</cp:coreProperties>
</file>