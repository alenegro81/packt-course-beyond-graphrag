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92"/>
    <p:restoredTop sz="79315"/>
  </p:normalViewPr>
  <p:slideViewPr>
    <p:cSldViewPr snapToGrid="0" snapToObjects="1">
      <p:cViewPr varScale="1">
        <p:scale>
          <a:sx n="99" d="100"/>
          <a:sy n="99" d="100"/>
        </p:scale>
        <p:origin x="9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6974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Beyond GraphRAG — an explainable financial advisor built on a knowledge graph, Neo4j and LLM agents. Alessandro Negro, Chief Scientist at GraphAware.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Complex decisions depend on knowledge spread across sources. Plain RAG's flat chunk retrieval is a weak fit — the scattered squares are disconnected chunks with nothing linking them.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Think about multiple scenarios in your own professional and personal life. 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same can apply if you are building an intelligent system for supporting the doctor to heal a patient</a:t>
            </a:r>
          </a:p>
          <a:p>
            <a:pPr marL="171450" indent="-171450">
              <a:buFontTx/>
              <a:buChar char="-"/>
            </a:pPr>
            <a:r>
              <a:rPr lang="en-US" dirty="0"/>
              <a:t>If you are building a system that support mission critical intelligence practice 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list if very long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r>
              <a:rPr lang="en-US" dirty="0"/>
              <a:t>In general, building an intelligent system requires to create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it concrete: financial markets and value investing. What you need to know about a company is spread across filings, news, executive/board data, and structured financials.</a:t>
            </a:r>
          </a:p>
          <a:p>
            <a:endParaRPr lang="en-US" dirty="0"/>
          </a:p>
          <a:p>
            <a:r>
              <a:rPr lang="en-US" dirty="0"/>
              <a:t>To make it concrete we would like to consider a scenario that can be very common to many people. Imagine you’d like to create a companion that helps you in finding a good company to invest in. </a:t>
            </a:r>
          </a:p>
          <a:p>
            <a:r>
              <a:rPr lang="en-US" dirty="0"/>
              <a:t>Here we are not talking about short term </a:t>
            </a:r>
            <a:r>
              <a:rPr lang="en-US" dirty="0" err="1"/>
              <a:t>investiment</a:t>
            </a:r>
            <a:r>
              <a:rPr lang="en-US" dirty="0"/>
              <a:t> or fast trading, we are talking about put a bit of your money on a company and wait for the company to grow. </a:t>
            </a:r>
          </a:p>
          <a:p>
            <a:r>
              <a:rPr lang="en-US" dirty="0"/>
              <a:t>In this case you need to know a lot about the company about the business</a:t>
            </a:r>
          </a:p>
          <a:p>
            <a:r>
              <a:rPr lang="en-US" dirty="0"/>
              <a:t>Warren buffet, one of the fathers of value investing, always says that he invests in companies and business he can understand. </a:t>
            </a:r>
          </a:p>
          <a:p>
            <a:endParaRPr lang="en-US" dirty="0"/>
          </a:p>
          <a:p>
            <a:r>
              <a:rPr lang="en-US" dirty="0"/>
              <a:t>So we need to build a system that allows us to </a:t>
            </a:r>
            <a:r>
              <a:rPr lang="en-US" dirty="0" err="1"/>
              <a:t>underatand</a:t>
            </a:r>
            <a:r>
              <a:rPr lang="en-US" dirty="0"/>
              <a:t> a company to know as much as we can about 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a few of the questions we can ask to get a better understanding</a:t>
            </a:r>
          </a:p>
          <a:p>
            <a:r>
              <a:rPr lang="en-US" dirty="0"/>
              <a:t>Look at them, now from high level, some requires just a few lines in a 10K filing, other requires to span multiple documents and gather way more information. </a:t>
            </a:r>
          </a:p>
          <a:p>
            <a:endParaRPr lang="en-US" dirty="0"/>
          </a:p>
          <a:p>
            <a:r>
              <a:rPr lang="en-US" dirty="0"/>
              <a:t>But this is very common to many of the examples we mentioned </a:t>
            </a:r>
          </a:p>
          <a:p>
            <a:endParaRPr lang="en-US" dirty="0"/>
          </a:p>
          <a:p>
            <a:r>
              <a:rPr lang="en-US" dirty="0"/>
              <a:t>These span simple lookups, multi-hop reasoning, comparison, and change-over-time — the full range a real advisor must cover, and where flat RAG falls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framing statement for the whole workshop: gather and organize this information into a knowledge graph, and make it accessible. That's the spine of everything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as a concept is still the right tool. But it has many implementations, and the choice of implementation is most of what determines whether it works for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 simple: one-shot RAG (Module 1). Embed the question, retrieve chunks, build context, generate an answer. Get the mechanics — then watch it fail on multi-hop, cross-document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an agentic loop. The agent decides which tool to use, uses it, evaluates the result, and retries when retrieval or the answer isn't good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how easy the loop is to extend. Every module from 3 onward adds a new tool to the same agent without restructuring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that ties the course together. An agent that can flexibly choose tools is wasted on a knowledge base that can't grow. That's why a knowledge graph is the foundation, not a flat vector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roadmap. This same schematic recurs at every module transition — only the highlight moves. Right now the whole path is ahead of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Stated explicitly because it's how the course is structured: build the knowledge graph step by step and put each extension to use immediately. Never build ahead of what we can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stack, no logos. Azure OpenAI is chat/generation only; embeddings run locally with bge-m3, so no embedding API call. LangGraph is what makes 'evaluates its own results' concrete — explicit grading and retry edges, not a bare ReAct loop. Version note if asked: development ran against Neo4j 2026.x (Enterprise) — Module 2's multi-property vector index + SEARCH clause need Cypher 25 (Neo4j 2026.01+), and the GDS/Louvain work needs the Graph Data Science library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into the first notebook, module_01_baseline.ipynb.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built: a graph-modeled baseline. What broke: anything past flat similarity. Bridge to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the agent loop with three tools and two grading steps. The design point: self-evaluation via explicit retry edges. Bridge: the loop needs a richer graph to reach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Grew the graph with Wikidata, Sharadar and NYT news; added Person, Event, Article, FinancialPeriod. Evolved a live graph safely and tested each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interesting decision worth surfacing: source disagreement on sector/industry is treated as data, not silently resolved.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teaching arc: naive → rigorous single-shot → two-phase (entities, reflection, relationships). The ADR-style decision: one generic label to avoid collisions before resolution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payoff: a side-by-side on a counting question. Unstructured agent struggles; structured agent gets it right in fewer rounds, verified against Cypher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Similarity linking (SIMILAR_TO) for re-ranking and clustering; entity resolution to merge duplicates. Resolution pipeline: fuzzy candidate narrowing (RapidFuzz WRatio) → graph-context enrichment → LLM judgment; confirmed members get a SAME_AS edge to a shared canonical EntityGroup hub node (deliberately a hub, not pairwise entity-to-entity edges — a 3+ duplicate cluster becomes one hub, not an N-way clique, and the hub carries canonical_name/type). Singletons stay ungrouped. Louvain tie-in worth making live given the course title: community detection over a similarity graph + per-community summarization IS the core of Microsoft's GraphRAG — here it's used as a targeted, exploratory tool (topic/boilerplate discovery), not adopted as the whole retrieval architecture. That's the 'Beyond GraphRAG' point. Louvain only beats plain connected components on a dense graph (at a lower threshold); at the 0.92 dedup threshold the graph is too sparse for it to add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Text-to-Cypher as a deliberate tool of last resort: schema-aware prompting, validation, write guardrails, graceful fallbacks.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slide. The concrete case: the generated query kept selecting Company.name, which is null on the two curated Company nodes (set only on Wikidata-derived stubs), so answers silently dropped names. Mitigation: surface each property's nullability in the schema prompt (a '?' marker from the mandatory flag db.schema.* already returns) — measured 6/8 correct after, vs the earlier severe failures, i.e. better odds, NOT a guaranteed fix (temperature can't be lowered on this Azure deployment). Distinct from that, two infra bugs WERE genuinely fixed while building this — an APOC-free schema serializer (the instance has no usable APOC) and a get_graph() call silently hitting the wrong database on a shared 16-db server. Reliability finding: single-hop generated queries reliable, multi-hop joins not yet. Reinforce 'explainable'.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Evaluation consolidated: LLM-as-judge on correctness/completeness/grounding (three separate dimensions, not one blended score), sub-claim decomposition, anchored rubric, and rationale-before-score. Design choice worth surfacing: reference-based single-answer scoring, deliberately NOT a pairwise 'which is better' judge — that's what makes position/order bias structurally not apply, and it yields an absolute score you can aggregate/gate on. Grounding is scored against the system's actual retrieved context when it's passed in, else the gold answer as a weaker fallback. Overall correctness on decomposed questions is computed in code from the sub-claim verdicts, never asked of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'now what' slide: monitoring, refreshing the graph, cost, and governance for a financial decision-support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claim of the course, stated plainly. Two properties that only pay off together: the agent is flexible (iterative, tool-using, self-grading) but that flexibility is wasted on a store that can't grow; the graph is endlessly extensible but inert without something smart enough to exploit each new layer. Pairing them is the whole design — and because retrieval runs through typed tools and explicit graph structure, every answer traces back to its sources: the 'explainable' in the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the intro's four question types (Multi-hop · Cross-document · Comparison · Change over time). The point: none of these is solved by better prompting over flat chunks — each needed a graph capability plus an agent tool, added together. This is where the flexibility-meets-expansibility thesis becomes concrete rather than a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loop: the whole path is complete. Thank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G"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PACKT COURSE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488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GraphRAG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461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an explainable financial advisor with knowledge graphs, Neo4j, and LLM agents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074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Alessandro Negro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Scientist, GraphAware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6492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decisions need everything in one place.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18388" y="3346704"/>
            <a:ext cx="6035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Often, the knowledge to make proper decisions is scattered across many sources in many formats. Such knowledge has to be found, aggregated, and summarized before a person can use it.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129016" y="2212848"/>
            <a:ext cx="237744" cy="23774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9733788" y="1956816"/>
            <a:ext cx="283464" cy="28346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10981944" y="2596896"/>
            <a:ext cx="329184" cy="32918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Shape 7"/>
          <p:cNvSpPr/>
          <p:nvPr/>
        </p:nvSpPr>
        <p:spPr>
          <a:xfrm>
            <a:off x="8663940" y="3108960"/>
            <a:ext cx="237744" cy="23774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Shape 8"/>
          <p:cNvSpPr/>
          <p:nvPr/>
        </p:nvSpPr>
        <p:spPr>
          <a:xfrm>
            <a:off x="10268712" y="3236976"/>
            <a:ext cx="283464" cy="28346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7950708" y="3749040"/>
            <a:ext cx="329184" cy="32918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9377172" y="4005072"/>
            <a:ext cx="237744" cy="23774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10803636" y="3749040"/>
            <a:ext cx="283464" cy="28346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>
            <a:off x="9020556" y="2596896"/>
            <a:ext cx="329184" cy="32918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Shape 13"/>
          <p:cNvSpPr/>
          <p:nvPr/>
        </p:nvSpPr>
        <p:spPr>
          <a:xfrm>
            <a:off x="9983419" y="4133088"/>
            <a:ext cx="237744" cy="23774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Shape 14"/>
          <p:cNvSpPr/>
          <p:nvPr/>
        </p:nvSpPr>
        <p:spPr>
          <a:xfrm>
            <a:off x="8307324" y="4337914"/>
            <a:ext cx="283464" cy="283464"/>
          </a:xfrm>
          <a:prstGeom prst="rect">
            <a:avLst/>
          </a:prstGeom>
          <a:solidFill>
            <a:srgbClr val="F4F4F2"/>
          </a:solidFill>
          <a:ln w="15875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investing is a knowledge problem.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judge a company, to invest properly, you must know a great deal about it — and that knowledge lives in many different places, never one.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19659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Filings (10-Ks, …)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0" y="2148840"/>
            <a:ext cx="1097280" cy="1124712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60350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0" y="2971800"/>
            <a:ext cx="1097280" cy="301752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6035040" y="3611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Executives &amp; board decisions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V="1">
            <a:off x="8686800" y="3291841"/>
            <a:ext cx="1024128" cy="502919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6035040" y="4434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data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 flipV="1">
            <a:off x="8686800" y="3273552"/>
            <a:ext cx="1097280" cy="1344168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9710928" y="3200400"/>
            <a:ext cx="146304" cy="14630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10003536" y="309067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company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10-K — a company's annual report filed with the U.S. SEC.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REAL ADVISOR MUST ANSWER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that quietly defeat a vanilla RAG pipeline: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21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a CEO change after joining — and how did the business change with them?</a:t>
            </a:r>
            <a:endParaRPr lang="en-US" sz="2100" dirty="0"/>
          </a:p>
          <a:p>
            <a:pPr marL="0" indent="0" algn="l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21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set Company A apart from Company B in the same period — and whose approach played out better?</a:t>
            </a:r>
            <a:endParaRPr lang="en-US" sz="2100" dirty="0"/>
          </a:p>
          <a:p>
            <a:pPr marL="0" indent="0" algn="l">
              <a:lnSpc>
                <a:spcPct val="112000"/>
              </a:lnSpc>
              <a:spcAft>
                <a:spcPts val="1400"/>
              </a:spcAft>
              <a:buNone/>
            </a:pPr>
            <a:r>
              <a:rPr lang="en-US" sz="21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did a company's stated priorities shift across consecutive annual reports?</a:t>
            </a:r>
            <a:endParaRPr lang="en-US" sz="2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21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executives moved between rival firms — and what happened around each move?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4406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Multi-hop.  Cross-document.  Comparison.  Change over time.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Gather the knowledge, organize it as a graph, access it properly.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spine — a knowledge graph you can grow and query — is what everything else in the course is built on.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KG (knowledge graph) — entities and the relationships between them, stored as a graph.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RETRIEVAL, DONE RIGHT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stays our best friend.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803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 never whether to retrieve — it's how. RAG has many possible implementations, and the implementation is most of what decides whether it actually works for questions like these.</a:t>
            </a:r>
            <a:endParaRPr lang="en-US" sz="17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01 · WHERE WE START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One-shot RAG.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59" y="23774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</a:t>
            </a: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→     </a:t>
            </a:r>
            <a:r>
              <a:rPr lang="en-US" sz="16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chunks</a:t>
            </a: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→     </a:t>
            </a:r>
            <a:r>
              <a:rPr lang="en-US" sz="16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→     </a:t>
            </a:r>
            <a:r>
              <a:rPr lang="en-US" sz="16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59" y="3054096"/>
            <a:ext cx="3270465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works on easy lookups — and visibly stumbles the moment a question needs more than flat similarity.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DED5D0-FB12-BC15-08E3-B2C937ED9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2792" y="3085529"/>
            <a:ext cx="6585486" cy="35895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02 · A SMARTER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3172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chooses a tool, uses it, grades the result — and retries when the retrieval or the answer isn't good enough.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1A24C5E-AE27-67AC-4B4D-846F2F4DF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11" y="3085134"/>
            <a:ext cx="10872472" cy="33156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LOOP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loop, many tools.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the agent loop exists, every later module adds a new tool to the same agent — no restructuring.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7647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77440" y="37947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4F4F2"/>
          </a:solidFill>
          <a:ln w="15875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237744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87952" y="37947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4F4F2"/>
          </a:solidFill>
          <a:ln w="15875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4187952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98464" y="37947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4F4F2"/>
          </a:solidFill>
          <a:ln w="15875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5998464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808976" y="37947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4F4F2"/>
          </a:solidFill>
          <a:ln w="15875">
            <a:solidFill>
              <a:srgbClr val="D3D3CE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7808976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619488" y="379476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F4F4F2"/>
          </a:solidFill>
          <a:ln w="15875">
            <a:solidFill>
              <a:srgbClr val="D3D3CE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9619488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4416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 modules add tools to the same agent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 is only as good as the knowledge base behind it.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flexible agent is wasted on a store that can't grow. Extensible retrieval has to be paired with an extensible knowledge store —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709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2E6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knowledge graph</a:t>
            </a:r>
            <a:r>
              <a:rPr lang="en-US" sz="22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not a flat vector index.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layers. Each one earns its place.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257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module ends with a system that is visibly better than the last — motivated by a limitation you just watched the previous one hit.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WE'LL BUILD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graph one layer at a time — and use each layer at once.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7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build ahead of what we can demonstrate. Modules 3–7 each add one capability to the graph and one to the agent, in the same step.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it's built on.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Neo4j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property graph + native vector index + text search index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101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agent loop with retrieval- and answer-grading steps, plus retry edges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2721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chat / agent reasoning only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34707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embeddings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sentence-transformers, BAAI/bge-m3 — no embedding API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5546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Docling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PDF parsing &amp; chunking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79806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tool wrapping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367754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  schema validation throughout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FIRST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8282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RAG on filings.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868680" y="3977640"/>
            <a:ext cx="0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749808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10-Ks into Neo4j and stand up a one-shot RAG baseline — then find its edges.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 → Module 01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01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have a working baseline.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3172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10-K filings ingested into a Company → Document → Chunk graph in Neo4j, embedded locally with bge-m3.</a:t>
            </a:r>
            <a:endParaRPr lang="en-US" sz="16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One-shot vector RAG answers easy lookups end to end.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886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choice — we modeled documents as a graph from day one. The baseline's store is the substrate we'll grow, not a throwaway vector index.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892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flat similarity breaks on multi-hop and cross-document questions. Next: smarter access to the same data.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— retrieval-augmented generation.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01 · Recap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01 complete.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0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49808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28316" y="3895344"/>
            <a:ext cx="164592" cy="164592"/>
          </a:xfrm>
          <a:prstGeom prst="ellipse">
            <a:avLst/>
          </a:prstGeom>
          <a:solidFill>
            <a:srgbClr val="F4F4F2"/>
          </a:solidFill>
          <a:ln w="15875">
            <a:solidFill>
              <a:srgbClr val="82827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 — turn the one-shot pipeline into an agentic retrieval loop.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01 · Recap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02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is now an agent.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4028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One-shot retrieval replaced by a LangGraph agent with three tools: semantic search, full-text (Lucene) search, and document navigation.</a:t>
            </a:r>
            <a:endParaRPr lang="en-US" sz="16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Two grading steps — one scores retrieval and can retry, one scores the final answer and can retry or go back to retrieve.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77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choice — explicit grade-and-retry edges, not a plain ReAct loop. The agent evaluates its own retrieval and its own answer.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983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extensibility payoff, cashed in for the first time — but the loop is only as good as what it can reach. Time to grow the graph.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— a framework for building agent loops as explicit graphs of steps.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02 · Recap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02 complete.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1741932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91740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3895344"/>
            <a:ext cx="164592" cy="164592"/>
          </a:xfrm>
          <a:prstGeom prst="ellipse">
            <a:avLst/>
          </a:prstGeom>
          <a:solidFill>
            <a:srgbClr val="F4F4F2"/>
          </a:solidFill>
          <a:ln w="15875">
            <a:solidFill>
              <a:srgbClr val="82827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3575304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 — enrich the graph with structured external data.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02 · Recap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03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 now holds more than text.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7744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New sources: Wikidata (executives, board, company profile — no API key), Sharadar (fundamentals, corporate actions), and NYT news.</a:t>
            </a:r>
            <a:endParaRPr lang="en-US" sz="16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New node types — Person, Event, Article, FinancialPeriod — grown into a live graph, incrementally and tested at each step.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addition was checked to see it improved answers rather than just adding noise.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NYT — The New York Times.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03 · Recap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HONEST CASE STUDY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two sources disagree, keep the disagreement.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8036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Wikidata and Sharadar sometimes classify the same company's industry or sector differently. We don't silently pick a winner — the conflict is recorded as data the agent can reason over.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138160" y="3566160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6675120" y="34747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84464" y="3639312"/>
            <a:ext cx="1554480" cy="50292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9875520" y="29260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Wikidata: </a:t>
            </a:r>
            <a:r>
              <a:rPr lang="en-US" sz="125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39776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Sharadar: </a:t>
            </a:r>
            <a:r>
              <a:rPr lang="en-US" sz="125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B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87552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kept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03 · Recap</a:t>
            </a:r>
            <a:endParaRPr lang="en-US" sz="900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C1051480-EF91-79B8-F0FF-BC29C3C6896D}"/>
              </a:ext>
            </a:extLst>
          </p:cNvPr>
          <p:cNvSpPr/>
          <p:nvPr/>
        </p:nvSpPr>
        <p:spPr>
          <a:xfrm flipV="1">
            <a:off x="8284464" y="3136392"/>
            <a:ext cx="1591056" cy="502919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03 complete.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3483864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33672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12180" y="3895344"/>
            <a:ext cx="164592" cy="164592"/>
          </a:xfrm>
          <a:prstGeom prst="ellipse">
            <a:avLst/>
          </a:prstGeom>
          <a:solidFill>
            <a:srgbClr val="F4F4F2"/>
          </a:solidFill>
          <a:ln w="15875">
            <a:solidFill>
              <a:srgbClr val="82827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5317236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0" name="Text 18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 — extract entities and relationships from the text itself.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03 · Recap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04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mined structure out of the text.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prompt</a:t>
            </a: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noisy output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Single-shot “rigorous” prompt</a:t>
            </a: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(role, scope, predefined types)  →  better, still flawed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Two-phase pipeline</a:t>
            </a:r>
            <a:r>
              <a:rPr lang="en-US" sz="16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entities  →  a reflection pass  →  relationships  →  what ships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50" i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choice — extracted entities collapse into one generic label, not dynamic per-type labels, to avoid collisions before entity resolution exists.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66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failure modes handled along the way: inconsistent outputs and hallucinated links.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— large language model.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04 · Recap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the agent can count 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counting question, the agent without extracted structure burns retries or refuses. With it, the agent answers in fewer rounds — checked against a Cypher-computed ground truth.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366760" y="23774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structure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366760" y="2688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· refuses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366760" y="3246120"/>
            <a:ext cx="2926080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 txBox="1"/>
          <p:nvPr/>
        </p:nvSpPr>
        <p:spPr>
          <a:xfrm>
            <a:off x="8366760" y="34290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structure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37398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correct, fewer rounds  </a:t>
            </a:r>
            <a:r>
              <a:rPr lang="en-US" sz="135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Cypher — Neo4j's query language, used here to compute the ground-truth count.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04 · Recap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04 complete.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5225796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75604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54112" y="3895344"/>
            <a:ext cx="164592" cy="164592"/>
          </a:xfrm>
          <a:prstGeom prst="ellipse">
            <a:avLst/>
          </a:prstGeom>
          <a:solidFill>
            <a:srgbClr val="F4F4F2"/>
          </a:solidFill>
          <a:ln w="15875">
            <a:solidFill>
              <a:srgbClr val="82827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 txBox="1"/>
          <p:nvPr/>
        </p:nvSpPr>
        <p:spPr>
          <a:xfrm>
            <a:off x="7059168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 — link similar content and resolve duplicate entities.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04 · Recap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05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improved the graph itself.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9456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SIMILAR_TO edges between chunks (vector-index search) drive redundancy-aware re-ranking and exploratory topic clustering (Louvain via GDS).</a:t>
            </a:r>
            <a:endParaRPr lang="en-US" sz="16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Duplicate entities are resolved — fuzzy name matching, then an LLM judging against graph context — and merged onto a canonical EntityGroup node via SAME_AS.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8862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i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what turns a pile of extracted mentions into a graph you can actually query.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229600" y="3886200"/>
            <a:ext cx="457200" cy="292608"/>
          </a:xfrm>
          <a:prstGeom prst="rect">
            <a:avLst/>
          </a:prstGeom>
          <a:solidFill>
            <a:srgbClr val="F4F4F2"/>
          </a:solidFill>
          <a:ln w="1397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7" name="Shape 5"/>
          <p:cNvSpPr/>
          <p:nvPr/>
        </p:nvSpPr>
        <p:spPr>
          <a:xfrm>
            <a:off x="9509760" y="3886200"/>
            <a:ext cx="457200" cy="292608"/>
          </a:xfrm>
          <a:prstGeom prst="rect">
            <a:avLst/>
          </a:prstGeom>
          <a:solidFill>
            <a:srgbClr val="F4F4F2"/>
          </a:solidFill>
          <a:ln w="1397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8" name="Shape 6"/>
          <p:cNvSpPr/>
          <p:nvPr/>
        </p:nvSpPr>
        <p:spPr>
          <a:xfrm>
            <a:off x="8686800" y="4032504"/>
            <a:ext cx="822960" cy="0"/>
          </a:xfrm>
          <a:prstGeom prst="line">
            <a:avLst/>
          </a:prstGeom>
          <a:noFill/>
          <a:ln w="12700">
            <a:solidFill>
              <a:srgbClr val="82827B"/>
            </a:solidFill>
            <a:prstDash val="dash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7955280" y="35753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SIMILAR_TO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254263" y="4572000"/>
            <a:ext cx="274320" cy="274320"/>
          </a:xfrm>
          <a:prstGeom prst="ellipse">
            <a:avLst/>
          </a:prstGeom>
          <a:solidFill>
            <a:srgbClr val="F4F4F2"/>
          </a:solidFill>
          <a:ln w="1397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9939528" y="4597371"/>
            <a:ext cx="274320" cy="274320"/>
          </a:xfrm>
          <a:prstGeom prst="ellipse">
            <a:avLst/>
          </a:prstGeom>
          <a:solidFill>
            <a:srgbClr val="F4F4F2"/>
          </a:solidFill>
          <a:ln w="1397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8961120" y="5202936"/>
            <a:ext cx="310896" cy="310896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Shape 11"/>
          <p:cNvSpPr/>
          <p:nvPr/>
        </p:nvSpPr>
        <p:spPr>
          <a:xfrm>
            <a:off x="8503920" y="4818888"/>
            <a:ext cx="612648" cy="384048"/>
          </a:xfrm>
          <a:prstGeom prst="line">
            <a:avLst/>
          </a:prstGeom>
          <a:noFill/>
          <a:ln w="16510">
            <a:solidFill>
              <a:srgbClr val="2E6E6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4" name="Shape 12"/>
          <p:cNvSpPr/>
          <p:nvPr/>
        </p:nvSpPr>
        <p:spPr>
          <a:xfrm flipH="1">
            <a:off x="9116568" y="4818888"/>
            <a:ext cx="850392" cy="393192"/>
          </a:xfrm>
          <a:prstGeom prst="line">
            <a:avLst/>
          </a:prstGeom>
          <a:noFill/>
          <a:ln w="16510">
            <a:solidFill>
              <a:srgbClr val="2E6E6A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 txBox="1"/>
          <p:nvPr/>
        </p:nvSpPr>
        <p:spPr>
          <a:xfrm>
            <a:off x="9528048" y="4981419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SAME_AS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8293608" y="54772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EntityGroup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GDS — Neo4j Graph Data Science library. Louvain — a community-detection algorithm.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05 · Recap</a:t>
            </a:r>
            <a:endParaRPr lang="en-US" sz="900" dirty="0"/>
          </a:p>
        </p:txBody>
      </p:sp>
      <p:sp>
        <p:nvSpPr>
          <p:cNvPr id="20" name="Text 13">
            <a:extLst>
              <a:ext uri="{FF2B5EF4-FFF2-40B4-BE49-F238E27FC236}">
                <a16:creationId xmlns:a16="http://schemas.microsoft.com/office/drawing/2014/main" id="{280B0AE5-900E-DECD-A116-8C0AF789126D}"/>
              </a:ext>
            </a:extLst>
          </p:cNvPr>
          <p:cNvSpPr txBox="1"/>
          <p:nvPr/>
        </p:nvSpPr>
        <p:spPr>
          <a:xfrm>
            <a:off x="8156448" y="496680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SAME_AS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05 complete.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6967728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17536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496044" y="3895344"/>
            <a:ext cx="164592" cy="164592"/>
          </a:xfrm>
          <a:prstGeom prst="ellipse">
            <a:avLst/>
          </a:prstGeom>
          <a:solidFill>
            <a:srgbClr val="F4F4F2"/>
          </a:solidFill>
          <a:ln w="15875">
            <a:solidFill>
              <a:srgbClr val="82827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 txBox="1"/>
          <p:nvPr/>
        </p:nvSpPr>
        <p:spPr>
          <a:xfrm>
            <a:off x="8801100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1247120" y="3904488"/>
            <a:ext cx="146304" cy="146304"/>
          </a:xfrm>
          <a:prstGeom prst="ellipse">
            <a:avLst/>
          </a:prstGeom>
          <a:solidFill>
            <a:srgbClr val="F4F4F2"/>
          </a:solidFill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BB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 — a text-to-Cypher escape hatch for open-ended questions.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05 · Recap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06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last-resort way to ask anything.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7744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A schema-aware chain translates natural language into Cypher, wired in as an agent tool with write-operation guardrails.</a:t>
            </a:r>
            <a:endParaRPr lang="en-US" sz="16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Reached for only when the curated tools can't answer — powerful, and the one tool we trust least by default.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tools first; generation is the escape hatch, not the default.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Cypher — Neo4j's query language. NL — natural language.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06 · Recap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PART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Powerful, and not yet fully trustworthy.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8892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surfaced a real correctness bug — we found a measured mitigation, but generation stays probabilistic, improved, not guaranteed. And a measured limit: single-hop generated queries are reliable, multi-hop joins are not yet. We present both as genuine limitations, not footnotes.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</a:t>
            </a:r>
            <a:r>
              <a:rPr lang="en-US" sz="2000" i="1" dirty="0">
                <a:solidFill>
                  <a:srgbClr val="2E6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</a:t>
            </a:r>
            <a:r>
              <a:rPr lang="en-US" sz="2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half of the title doing its work.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06 · Recap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06 complete.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8709660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459468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37976" y="3895344"/>
            <a:ext cx="164592" cy="164592"/>
          </a:xfrm>
          <a:prstGeom prst="ellipse">
            <a:avLst/>
          </a:prstGeom>
          <a:solidFill>
            <a:srgbClr val="F4F4F2"/>
          </a:solidFill>
          <a:ln w="15875">
            <a:solidFill>
              <a:srgbClr val="82827B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 txBox="1"/>
          <p:nvPr/>
        </p:nvSpPr>
        <p:spPr>
          <a:xfrm>
            <a:off x="10543032" y="31546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2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2578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5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next — evaluation, and what production actually demands.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06 · Recap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07 · 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25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whether any of it worked.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LLM-as-judge scores correctness, completeness, and grounding — multi-part questions decomposed into independently scored sub-claims.</a:t>
            </a:r>
            <a:endParaRPr lang="en-US" sz="16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Bias fixes: an anchored 1/3/5 rubric, and rationale written before the score — so the number follows the reasoning, not the reverse.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ran through the whole build — “did this layer actually help?” — and is consolidated here.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943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LLM-as-judge — using an LLM to grade another system's answers against explicit criteria.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07 · Recap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WHAT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it for real.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refresh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330952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833872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739128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7242048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considerations that separate a course demo from a financial decision-support system in production.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07 · Recap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SYNTHESIS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</a:t>
            </a:r>
            <a:r>
              <a:rPr lang="en-US" sz="3400" dirty="0">
                <a:solidFill>
                  <a:srgbClr val="2E6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flexible</a:t>
            </a: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agent over an </a:t>
            </a:r>
            <a:r>
              <a:rPr lang="en-US" sz="3400" dirty="0">
                <a:solidFill>
                  <a:srgbClr val="2E6E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extensible</a:t>
            </a:r>
            <a:r>
              <a:rPr lang="en-US" sz="34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graph.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4320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 gave us flexibility in how we retrieve — choose a tool, use it, grade the result, retry. The knowledge graph gave us expansibility in what there is to retrieve — every module added new structure, and the same agent used it the moment it landed.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1572768" y="4617720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4F4F2"/>
          </a:solidFill>
          <a:ln w="1524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 txBox="1"/>
          <p:nvPr/>
        </p:nvSpPr>
        <p:spPr>
          <a:xfrm>
            <a:off x="1572768" y="4636008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5367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flexible retrieval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73168" y="4617720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4F4F2"/>
          </a:solidFill>
          <a:ln w="1524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 txBox="1"/>
          <p:nvPr/>
        </p:nvSpPr>
        <p:spPr>
          <a:xfrm>
            <a:off x="4773168" y="4636008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graph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773168" y="5367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extensible structure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73568" y="4617720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4F4F2"/>
          </a:solidFill>
          <a:ln w="1524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 txBox="1"/>
          <p:nvPr/>
        </p:nvSpPr>
        <p:spPr>
          <a:xfrm>
            <a:off x="7973568" y="4636008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advisor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73568" y="5367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you can trace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24528" y="46177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424928" y="46177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STARTED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1732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questions that defeated plain RAG — now in reach.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80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5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hard question needed a different capability, and each got one: a tool to ask with, and the graph structure to answer from.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03320"/>
            <a:ext cx="10545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Multi-hop — traverse people, roles, and companies, not just similar text.</a:t>
            </a:r>
            <a:endParaRPr lang="en-US" sz="1550" dirty="0"/>
          </a:p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Cross-document &amp; cross-company — links that live in the graph, discovered once and reused.</a:t>
            </a:r>
            <a:endParaRPr lang="en-US" sz="1550" dirty="0"/>
          </a:p>
          <a:p>
            <a:pPr marL="0" indent="0" algn="l">
              <a:lnSpc>
                <a:spcPct val="122000"/>
              </a:lnSpc>
              <a:spcAft>
                <a:spcPts val="1000"/>
              </a:spcAft>
              <a:buNone/>
            </a:pPr>
            <a:r>
              <a:rPr lang="en-US" sz="15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Comparison — structured financials and events, side by side.</a:t>
            </a:r>
            <a:endParaRPr lang="en-US" sz="155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550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 Change over time — filings and periods anchored so shifts are queryable.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0350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PATH, COMPLETE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layers, built and used.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2700">
            <a:solidFill>
              <a:srgbClr val="D3D3CE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10451592" cy="0"/>
          </a:xfrm>
          <a:prstGeom prst="line">
            <a:avLst/>
          </a:prstGeom>
          <a:noFill/>
          <a:ln w="1905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79552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 txBox="1"/>
          <p:nvPr/>
        </p:nvSpPr>
        <p:spPr>
          <a:xfrm>
            <a:off x="9144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37460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 txBox="1"/>
          <p:nvPr/>
        </p:nvSpPr>
        <p:spPr>
          <a:xfrm>
            <a:off x="183337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78765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9392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 txBox="1"/>
          <p:nvPr/>
        </p:nvSpPr>
        <p:spPr>
          <a:xfrm>
            <a:off x="3575304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29584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1324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 txBox="1"/>
          <p:nvPr/>
        </p:nvSpPr>
        <p:spPr>
          <a:xfrm>
            <a:off x="5317236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271516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63256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 txBox="1"/>
          <p:nvPr/>
        </p:nvSpPr>
        <p:spPr>
          <a:xfrm>
            <a:off x="7059168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013448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05188" y="3904488"/>
            <a:ext cx="146304" cy="146304"/>
          </a:xfrm>
          <a:prstGeom prst="ellipse">
            <a:avLst/>
          </a:prstGeom>
          <a:solidFill>
            <a:srgbClr val="1A1A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 txBox="1"/>
          <p:nvPr/>
        </p:nvSpPr>
        <p:spPr>
          <a:xfrm>
            <a:off x="8801100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75538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Text2Cypher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201400" y="3858768"/>
            <a:ext cx="237744" cy="237744"/>
          </a:xfrm>
          <a:prstGeom prst="ellipse">
            <a:avLst/>
          </a:prstGeom>
          <a:solidFill>
            <a:srgbClr val="2E6E6A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 txBox="1"/>
          <p:nvPr/>
        </p:nvSpPr>
        <p:spPr>
          <a:xfrm>
            <a:off x="10543032" y="34655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6E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0497312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</a:t>
            </a:r>
            <a:endParaRPr lang="en-US" sz="10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257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600" i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explainable financial advisor, grown one layer at a time.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Alessandro Negro</a:t>
            </a:r>
            <a:r>
              <a:rPr lang="en-US" sz="12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Chief Scientist, GraphAware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GraphRAG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882335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282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BE269072-BCC7-83B6-CF7C-B5A54799C24B}"/>
              </a:ext>
            </a:extLst>
          </p:cNvPr>
          <p:cNvSpPr txBox="1"/>
          <p:nvPr/>
        </p:nvSpPr>
        <p:spPr>
          <a:xfrm>
            <a:off x="4189949" y="2965756"/>
            <a:ext cx="3812102" cy="926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0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017162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3864</Words>
  <Application>Microsoft Macintosh PowerPoint</Application>
  <PresentationFormat>Widescreen</PresentationFormat>
  <Paragraphs>525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GraphAware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Alessandro Negro</dc:creator>
  <cp:lastModifiedBy>Alessandro Negro</cp:lastModifiedBy>
  <cp:revision>9</cp:revision>
  <dcterms:created xsi:type="dcterms:W3CDTF">2026-09-14T17:06:02Z</dcterms:created>
  <dcterms:modified xsi:type="dcterms:W3CDTF">2026-09-15T15:58:52Z</dcterms:modified>
</cp:coreProperties>
</file>